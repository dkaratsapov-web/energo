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201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Представиться, назвать задачу встречи — короткий список подрядчиков.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round"/>
          <p:cNvSpPr/>
          <p:nvPr/>
        </p:nvSpPr>
        <p:spPr>
          <a:xfrm>
            <a:off x="0" y="0"/>
            <a:ext cx="12192012" cy="6858000"/>
          </a:xfrm>
          <a:prstGeom prst="rect">
            <a:avLst/>
          </a:prstGeom>
          <a:solidFill>
            <a:srgbClr val="21233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image" descr="a00a395d05c4182e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876805" y="0"/>
            <a:ext cx="7315207" cy="6858000"/>
          </a:xfrm>
          <a:prstGeom prst="rect">
            <a:avLst/>
          </a:prstGeom>
        </p:spPr>
      </p:pic>
      <p:sp>
        <p:nvSpPr>
          <p:cNvPr id="4" name="arc"/>
          <p:cNvSpPr/>
          <p:nvPr/>
        </p:nvSpPr>
        <p:spPr>
          <a:xfrm>
            <a:off x="11154465" y="3460"/>
            <a:ext cx="1023833" cy="1050994"/>
          </a:xfrm>
          <a:custGeom>
            <a:avLst/>
            <a:gdLst/>
            <a:ahLst/>
            <a:cxnLst/>
            <a:rect l="0" t="0" r="r" b="b"/>
            <a:pathLst>
              <a:path w="1023833" h="1050994">
                <a:moveTo>
                  <a:pt x="1023833" y="1050994"/>
                </a:moveTo>
                <a:lnTo>
                  <a:pt x="1003970" y="1039641"/>
                </a:lnTo>
                <a:lnTo>
                  <a:pt x="984206" y="1028115"/>
                </a:lnTo>
                <a:lnTo>
                  <a:pt x="964545" y="1016418"/>
                </a:lnTo>
                <a:lnTo>
                  <a:pt x="944985" y="1004549"/>
                </a:lnTo>
                <a:lnTo>
                  <a:pt x="925531" y="992510"/>
                </a:lnTo>
                <a:lnTo>
                  <a:pt x="906182" y="980302"/>
                </a:lnTo>
                <a:lnTo>
                  <a:pt x="886940" y="967925"/>
                </a:lnTo>
                <a:lnTo>
                  <a:pt x="867807" y="955381"/>
                </a:lnTo>
                <a:lnTo>
                  <a:pt x="848784" y="942670"/>
                </a:lnTo>
                <a:lnTo>
                  <a:pt x="829873" y="929794"/>
                </a:lnTo>
                <a:lnTo>
                  <a:pt x="811075" y="916754"/>
                </a:lnTo>
                <a:lnTo>
                  <a:pt x="792392" y="903549"/>
                </a:lnTo>
                <a:lnTo>
                  <a:pt x="773824" y="890183"/>
                </a:lnTo>
                <a:lnTo>
                  <a:pt x="755374" y="876654"/>
                </a:lnTo>
                <a:lnTo>
                  <a:pt x="737042" y="862966"/>
                </a:lnTo>
                <a:lnTo>
                  <a:pt x="718831" y="849117"/>
                </a:lnTo>
                <a:lnTo>
                  <a:pt x="700741" y="835111"/>
                </a:lnTo>
                <a:lnTo>
                  <a:pt x="682774" y="820947"/>
                </a:lnTo>
                <a:lnTo>
                  <a:pt x="664932" y="806627"/>
                </a:lnTo>
                <a:lnTo>
                  <a:pt x="647215" y="792151"/>
                </a:lnTo>
                <a:lnTo>
                  <a:pt x="629625" y="777522"/>
                </a:lnTo>
                <a:lnTo>
                  <a:pt x="612163" y="762740"/>
                </a:lnTo>
                <a:lnTo>
                  <a:pt x="594831" y="747806"/>
                </a:lnTo>
                <a:lnTo>
                  <a:pt x="577630" y="732721"/>
                </a:lnTo>
                <a:lnTo>
                  <a:pt x="560562" y="717486"/>
                </a:lnTo>
                <a:lnTo>
                  <a:pt x="543627" y="702104"/>
                </a:lnTo>
                <a:lnTo>
                  <a:pt x="526826" y="686574"/>
                </a:lnTo>
                <a:lnTo>
                  <a:pt x="510162" y="670898"/>
                </a:lnTo>
                <a:lnTo>
                  <a:pt x="493636" y="655077"/>
                </a:lnTo>
                <a:lnTo>
                  <a:pt x="477248" y="639113"/>
                </a:lnTo>
                <a:lnTo>
                  <a:pt x="461000" y="623006"/>
                </a:lnTo>
                <a:lnTo>
                  <a:pt x="444893" y="606758"/>
                </a:lnTo>
                <a:lnTo>
                  <a:pt x="428929" y="590370"/>
                </a:lnTo>
                <a:lnTo>
                  <a:pt x="413108" y="573843"/>
                </a:lnTo>
                <a:lnTo>
                  <a:pt x="397432" y="557179"/>
                </a:lnTo>
                <a:lnTo>
                  <a:pt x="381902" y="540379"/>
                </a:lnTo>
                <a:lnTo>
                  <a:pt x="366519" y="523444"/>
                </a:lnTo>
                <a:lnTo>
                  <a:pt x="351285" y="506375"/>
                </a:lnTo>
                <a:lnTo>
                  <a:pt x="336200" y="489174"/>
                </a:lnTo>
                <a:lnTo>
                  <a:pt x="321266" y="471842"/>
                </a:lnTo>
                <a:lnTo>
                  <a:pt x="306484" y="454381"/>
                </a:lnTo>
                <a:lnTo>
                  <a:pt x="291854" y="436791"/>
                </a:lnTo>
                <a:lnTo>
                  <a:pt x="277379" y="419074"/>
                </a:lnTo>
                <a:lnTo>
                  <a:pt x="263059" y="401231"/>
                </a:lnTo>
                <a:lnTo>
                  <a:pt x="248895" y="383265"/>
                </a:lnTo>
                <a:lnTo>
                  <a:pt x="234888" y="365175"/>
                </a:lnTo>
                <a:lnTo>
                  <a:pt x="221040" y="346963"/>
                </a:lnTo>
                <a:lnTo>
                  <a:pt x="207351" y="328632"/>
                </a:lnTo>
                <a:lnTo>
                  <a:pt x="193823" y="310182"/>
                </a:lnTo>
                <a:lnTo>
                  <a:pt x="180456" y="291614"/>
                </a:lnTo>
                <a:lnTo>
                  <a:pt x="167252" y="272931"/>
                </a:lnTo>
                <a:lnTo>
                  <a:pt x="154211" y="254133"/>
                </a:lnTo>
                <a:lnTo>
                  <a:pt x="141335" y="235221"/>
                </a:lnTo>
                <a:lnTo>
                  <a:pt x="128625" y="216199"/>
                </a:lnTo>
                <a:lnTo>
                  <a:pt x="116081" y="197066"/>
                </a:lnTo>
                <a:lnTo>
                  <a:pt x="103704" y="177824"/>
                </a:lnTo>
                <a:lnTo>
                  <a:pt x="91496" y="158475"/>
                </a:lnTo>
                <a:lnTo>
                  <a:pt x="79457" y="139020"/>
                </a:lnTo>
                <a:lnTo>
                  <a:pt x="67588" y="119461"/>
                </a:lnTo>
                <a:lnTo>
                  <a:pt x="55890" y="99799"/>
                </a:lnTo>
                <a:lnTo>
                  <a:pt x="44365" y="80036"/>
                </a:lnTo>
                <a:lnTo>
                  <a:pt x="33012" y="60173"/>
                </a:lnTo>
                <a:lnTo>
                  <a:pt x="21833" y="40212"/>
                </a:lnTo>
                <a:lnTo>
                  <a:pt x="10829" y="20153"/>
                </a:lnTo>
                <a:lnTo>
                  <a:pt x="0" y="0"/>
                </a:lnTo>
              </a:path>
            </a:pathLst>
          </a:custGeom>
          <a:noFill/>
          <a:ln w="11430">
            <a:solidFill>
              <a:srgbClr val="D3D2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label: ГК «ЭНЕРГО ГРУПП»"/>
          <p:cNvSpPr txBox="1"/>
          <p:nvPr/>
        </p:nvSpPr>
        <p:spPr>
          <a:xfrm>
            <a:off x="648000" y="571618"/>
            <a:ext cx="5400000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138">
                <a:solidFill>
                  <a:srgbClr val="F2F1EE"/>
                </a:solidFill>
                <a:latin typeface="Onest SemiBold"/>
                <a:ea typeface="Onest SemiBold"/>
                <a:cs typeface="Onest SemiBold"/>
              </a:rPr>
              <a:t>ГК «ЭНЕРГО ГРУПП»</a:t>
            </a:r>
          </a:p>
        </p:txBody>
      </p:sp>
      <p:sp>
        <p:nvSpPr>
          <p:cNvPr id="6" name="label: МОСКВА · 2025"/>
          <p:cNvSpPr txBox="1"/>
          <p:nvPr/>
        </p:nvSpPr>
        <p:spPr>
          <a:xfrm>
            <a:off x="648000" y="6234419"/>
            <a:ext cx="4320000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138">
                <a:solidFill>
                  <a:srgbClr val="A0A0AD"/>
                </a:solidFill>
                <a:latin typeface="Onest SemiBold"/>
                <a:ea typeface="Onest SemiBold"/>
                <a:cs typeface="Onest SemiBold"/>
              </a:rPr>
              <a:t>МОСКВА · 2025</a:t>
            </a:r>
          </a:p>
        </p:txBody>
      </p:sp>
      <p:sp>
        <p:nvSpPr>
          <p:cNvPr id="7" name="lead: Проектирование, строительство"/>
          <p:cNvSpPr txBox="1"/>
          <p:nvPr/>
        </p:nvSpPr>
        <p:spPr>
          <a:xfrm>
            <a:off x="648000" y="4770090"/>
            <a:ext cx="4084805" cy="11582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spc="0">
                <a:solidFill>
                  <a:srgbClr val="A0A0AD"/>
                </a:solidFill>
                <a:latin typeface="Onest"/>
                <a:ea typeface="Onest"/>
                <a:cs typeface="Onest"/>
              </a:rPr>
              <a:t>Проектирование, строительство</a:t>
            </a:r>
          </a:p>
          <a:p>
            <a:pPr algn="l">
              <a:lnSpc>
                <a:spcPts val="28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spc="0">
                <a:solidFill>
                  <a:srgbClr val="A0A0AD"/>
                </a:solidFill>
                <a:latin typeface="Onest"/>
                <a:ea typeface="Onest"/>
                <a:cs typeface="Onest"/>
              </a:rPr>
              <a:t>и обслуживание объектов</a:t>
            </a:r>
          </a:p>
          <a:p>
            <a:pPr algn="l">
              <a:lnSpc>
                <a:spcPts val="28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spc="0">
                <a:solidFill>
                  <a:srgbClr val="A0A0AD"/>
                </a:solidFill>
                <a:latin typeface="Onest"/>
                <a:ea typeface="Onest"/>
                <a:cs typeface="Onest"/>
              </a:rPr>
              <a:t>электросетевого хозяйства</a:t>
            </a:r>
          </a:p>
        </p:txBody>
      </p:sp>
      <p:sp>
        <p:nvSpPr>
          <p:cNvPr id="8" name="hero: Энергетика"/>
          <p:cNvSpPr txBox="1"/>
          <p:nvPr/>
        </p:nvSpPr>
        <p:spPr>
          <a:xfrm>
            <a:off x="648000" y="2968215"/>
            <a:ext cx="4084805" cy="177888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6089"/>
              </a:lnSpc>
              <a:spcBef>
                <a:spcPts val="0"/>
              </a:spcBef>
              <a:spcAft>
                <a:spcPts val="0"/>
              </a:spcAft>
            </a:pPr>
            <a:r>
              <a:rPr sz="6089" b="0" i="0" spc="-122">
                <a:solidFill>
                  <a:srgbClr val="F2F1EE"/>
                </a:solidFill>
                <a:latin typeface="PT Serif"/>
                <a:ea typeface="PT Serif"/>
                <a:cs typeface="PT Serif"/>
              </a:rPr>
              <a:t>Энергетика</a:t>
            </a:r>
          </a:p>
          <a:p>
            <a:pPr algn="l">
              <a:lnSpc>
                <a:spcPts val="6089"/>
              </a:lnSpc>
              <a:spcBef>
                <a:spcPts val="0"/>
              </a:spcBef>
              <a:spcAft>
                <a:spcPts val="0"/>
              </a:spcAft>
            </a:pPr>
            <a:r>
              <a:rPr sz="6089" b="0" i="0" spc="-122">
                <a:solidFill>
                  <a:srgbClr val="F2F1EE"/>
                </a:solidFill>
                <a:latin typeface="PT Serif"/>
                <a:ea typeface="PT Serif"/>
                <a:cs typeface="PT Serif"/>
              </a:rPr>
              <a:t>под ключ</a:t>
            </a:r>
          </a:p>
        </p:txBody>
      </p:sp>
      <p:sp>
        <p:nvSpPr>
          <p:cNvPr id="9" name="label: КОМПЛЕКСНОЕ СТРОИТЕЛЬСТВО"/>
          <p:cNvSpPr txBox="1"/>
          <p:nvPr/>
        </p:nvSpPr>
        <p:spPr>
          <a:xfrm>
            <a:off x="648000" y="2310984"/>
            <a:ext cx="5400000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138">
                <a:solidFill>
                  <a:srgbClr val="A0A0AD"/>
                </a:solidFill>
                <a:latin typeface="Onest SemiBold"/>
                <a:ea typeface="Onest SemiBold"/>
                <a:cs typeface="Onest SemiBold"/>
              </a:rPr>
              <a:t>КОМПЛЕКСНОЕ СТРОИТЕЛЬСТВО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round"/>
          <p:cNvSpPr/>
          <p:nvPr/>
        </p:nvSpPr>
        <p:spPr>
          <a:xfrm>
            <a:off x="0" y="0"/>
            <a:ext cx="12192012" cy="6858000"/>
          </a:xfrm>
          <a:prstGeom prst="rect">
            <a:avLst/>
          </a:prstGeom>
          <a:solidFill>
            <a:srgbClr val="21233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arc"/>
          <p:cNvSpPr/>
          <p:nvPr/>
        </p:nvSpPr>
        <p:spPr>
          <a:xfrm>
            <a:off x="10415333" y="14317"/>
            <a:ext cx="1763179" cy="1687876"/>
          </a:xfrm>
          <a:custGeom>
            <a:avLst/>
            <a:gdLst/>
            <a:ahLst/>
            <a:cxnLst/>
            <a:rect l="0" t="0" r="r" b="b"/>
            <a:pathLst>
              <a:path w="1763179" h="1687876">
                <a:moveTo>
                  <a:pt x="1763179" y="1687876"/>
                </a:moveTo>
                <a:lnTo>
                  <a:pt x="1741816" y="1682052"/>
                </a:lnTo>
                <a:lnTo>
                  <a:pt x="1720505" y="1676042"/>
                </a:lnTo>
                <a:lnTo>
                  <a:pt x="1699247" y="1669846"/>
                </a:lnTo>
                <a:lnTo>
                  <a:pt x="1678045" y="1663464"/>
                </a:lnTo>
                <a:lnTo>
                  <a:pt x="1656898" y="1656898"/>
                </a:lnTo>
                <a:lnTo>
                  <a:pt x="1635810" y="1650148"/>
                </a:lnTo>
                <a:lnTo>
                  <a:pt x="1614782" y="1643214"/>
                </a:lnTo>
                <a:lnTo>
                  <a:pt x="1593815" y="1636096"/>
                </a:lnTo>
                <a:lnTo>
                  <a:pt x="1572910" y="1628796"/>
                </a:lnTo>
                <a:lnTo>
                  <a:pt x="1552071" y="1621314"/>
                </a:lnTo>
                <a:lnTo>
                  <a:pt x="1531297" y="1613650"/>
                </a:lnTo>
                <a:lnTo>
                  <a:pt x="1510591" y="1605806"/>
                </a:lnTo>
                <a:lnTo>
                  <a:pt x="1489954" y="1597780"/>
                </a:lnTo>
                <a:lnTo>
                  <a:pt x="1469388" y="1589575"/>
                </a:lnTo>
                <a:lnTo>
                  <a:pt x="1448895" y="1581191"/>
                </a:lnTo>
                <a:lnTo>
                  <a:pt x="1428475" y="1572629"/>
                </a:lnTo>
                <a:lnTo>
                  <a:pt x="1408131" y="1563888"/>
                </a:lnTo>
                <a:lnTo>
                  <a:pt x="1387864" y="1554970"/>
                </a:lnTo>
                <a:lnTo>
                  <a:pt x="1367676" y="1545876"/>
                </a:lnTo>
                <a:lnTo>
                  <a:pt x="1347567" y="1536606"/>
                </a:lnTo>
                <a:lnTo>
                  <a:pt x="1327541" y="1527161"/>
                </a:lnTo>
                <a:lnTo>
                  <a:pt x="1307597" y="1517541"/>
                </a:lnTo>
                <a:lnTo>
                  <a:pt x="1287739" y="1507748"/>
                </a:lnTo>
                <a:lnTo>
                  <a:pt x="1267966" y="1497782"/>
                </a:lnTo>
                <a:lnTo>
                  <a:pt x="1248281" y="1487644"/>
                </a:lnTo>
                <a:lnTo>
                  <a:pt x="1228686" y="1477334"/>
                </a:lnTo>
                <a:lnTo>
                  <a:pt x="1209181" y="1466854"/>
                </a:lnTo>
                <a:lnTo>
                  <a:pt x="1189768" y="1456203"/>
                </a:lnTo>
                <a:lnTo>
                  <a:pt x="1170449" y="1445384"/>
                </a:lnTo>
                <a:lnTo>
                  <a:pt x="1151225" y="1434397"/>
                </a:lnTo>
                <a:lnTo>
                  <a:pt x="1132098" y="1423242"/>
                </a:lnTo>
                <a:lnTo>
                  <a:pt x="1113069" y="1411921"/>
                </a:lnTo>
                <a:lnTo>
                  <a:pt x="1094139" y="1400434"/>
                </a:lnTo>
                <a:lnTo>
                  <a:pt x="1075310" y="1388783"/>
                </a:lnTo>
                <a:lnTo>
                  <a:pt x="1056584" y="1376967"/>
                </a:lnTo>
                <a:lnTo>
                  <a:pt x="1037962" y="1364989"/>
                </a:lnTo>
                <a:lnTo>
                  <a:pt x="1019444" y="1352848"/>
                </a:lnTo>
                <a:lnTo>
                  <a:pt x="1001034" y="1340547"/>
                </a:lnTo>
                <a:lnTo>
                  <a:pt x="982731" y="1328085"/>
                </a:lnTo>
                <a:lnTo>
                  <a:pt x="964538" y="1315464"/>
                </a:lnTo>
                <a:lnTo>
                  <a:pt x="946456" y="1302685"/>
                </a:lnTo>
                <a:lnTo>
                  <a:pt x="928486" y="1289748"/>
                </a:lnTo>
                <a:lnTo>
                  <a:pt x="910629" y="1276655"/>
                </a:lnTo>
                <a:lnTo>
                  <a:pt x="892888" y="1263407"/>
                </a:lnTo>
                <a:lnTo>
                  <a:pt x="875263" y="1250005"/>
                </a:lnTo>
                <a:lnTo>
                  <a:pt x="857755" y="1236449"/>
                </a:lnTo>
                <a:lnTo>
                  <a:pt x="840366" y="1222741"/>
                </a:lnTo>
                <a:lnTo>
                  <a:pt x="823098" y="1208881"/>
                </a:lnTo>
                <a:lnTo>
                  <a:pt x="805951" y="1194872"/>
                </a:lnTo>
                <a:lnTo>
                  <a:pt x="788927" y="1180713"/>
                </a:lnTo>
                <a:lnTo>
                  <a:pt x="772028" y="1166407"/>
                </a:lnTo>
                <a:lnTo>
                  <a:pt x="755253" y="1151953"/>
                </a:lnTo>
                <a:lnTo>
                  <a:pt x="738606" y="1137354"/>
                </a:lnTo>
                <a:lnTo>
                  <a:pt x="722087" y="1122609"/>
                </a:lnTo>
                <a:lnTo>
                  <a:pt x="705697" y="1107722"/>
                </a:lnTo>
                <a:lnTo>
                  <a:pt x="689437" y="1092692"/>
                </a:lnTo>
                <a:lnTo>
                  <a:pt x="673309" y="1077520"/>
                </a:lnTo>
                <a:lnTo>
                  <a:pt x="657315" y="1062209"/>
                </a:lnTo>
                <a:lnTo>
                  <a:pt x="641454" y="1046758"/>
                </a:lnTo>
                <a:lnTo>
                  <a:pt x="625729" y="1031169"/>
                </a:lnTo>
                <a:lnTo>
                  <a:pt x="610141" y="1015444"/>
                </a:lnTo>
                <a:lnTo>
                  <a:pt x="594690" y="999584"/>
                </a:lnTo>
                <a:lnTo>
                  <a:pt x="579378" y="983589"/>
                </a:lnTo>
                <a:lnTo>
                  <a:pt x="564207" y="967461"/>
                </a:lnTo>
                <a:lnTo>
                  <a:pt x="549177" y="951202"/>
                </a:lnTo>
                <a:lnTo>
                  <a:pt x="534289" y="934812"/>
                </a:lnTo>
                <a:lnTo>
                  <a:pt x="519545" y="918292"/>
                </a:lnTo>
                <a:lnTo>
                  <a:pt x="504945" y="901645"/>
                </a:lnTo>
                <a:lnTo>
                  <a:pt x="490492" y="884871"/>
                </a:lnTo>
                <a:lnTo>
                  <a:pt x="476185" y="867971"/>
                </a:lnTo>
                <a:lnTo>
                  <a:pt x="462027" y="850947"/>
                </a:lnTo>
                <a:lnTo>
                  <a:pt x="448017" y="833800"/>
                </a:lnTo>
                <a:lnTo>
                  <a:pt x="434158" y="816532"/>
                </a:lnTo>
                <a:lnTo>
                  <a:pt x="420450" y="799143"/>
                </a:lnTo>
                <a:lnTo>
                  <a:pt x="406894" y="781636"/>
                </a:lnTo>
                <a:lnTo>
                  <a:pt x="393491" y="764011"/>
                </a:lnTo>
                <a:lnTo>
                  <a:pt x="380243" y="746269"/>
                </a:lnTo>
                <a:lnTo>
                  <a:pt x="367150" y="728412"/>
                </a:lnTo>
                <a:lnTo>
                  <a:pt x="354214" y="710442"/>
                </a:lnTo>
                <a:lnTo>
                  <a:pt x="341434" y="692360"/>
                </a:lnTo>
                <a:lnTo>
                  <a:pt x="328813" y="674167"/>
                </a:lnTo>
                <a:lnTo>
                  <a:pt x="316352" y="655865"/>
                </a:lnTo>
                <a:lnTo>
                  <a:pt x="304050" y="637454"/>
                </a:lnTo>
                <a:lnTo>
                  <a:pt x="291910" y="618937"/>
                </a:lnTo>
                <a:lnTo>
                  <a:pt x="279931" y="600314"/>
                </a:lnTo>
                <a:lnTo>
                  <a:pt x="268116" y="581588"/>
                </a:lnTo>
                <a:lnTo>
                  <a:pt x="256464" y="562759"/>
                </a:lnTo>
                <a:lnTo>
                  <a:pt x="244977" y="543830"/>
                </a:lnTo>
                <a:lnTo>
                  <a:pt x="233656" y="524800"/>
                </a:lnTo>
                <a:lnTo>
                  <a:pt x="222502" y="505673"/>
                </a:lnTo>
                <a:lnTo>
                  <a:pt x="211514" y="486449"/>
                </a:lnTo>
                <a:lnTo>
                  <a:pt x="200695" y="467130"/>
                </a:lnTo>
                <a:lnTo>
                  <a:pt x="190045" y="447718"/>
                </a:lnTo>
                <a:lnTo>
                  <a:pt x="179565" y="428213"/>
                </a:lnTo>
                <a:lnTo>
                  <a:pt x="169255" y="408617"/>
                </a:lnTo>
                <a:lnTo>
                  <a:pt x="159116" y="388932"/>
                </a:lnTo>
                <a:lnTo>
                  <a:pt x="149150" y="369160"/>
                </a:lnTo>
                <a:lnTo>
                  <a:pt x="139357" y="349301"/>
                </a:lnTo>
                <a:lnTo>
                  <a:pt x="129737" y="329358"/>
                </a:lnTo>
                <a:lnTo>
                  <a:pt x="120292" y="309331"/>
                </a:lnTo>
                <a:lnTo>
                  <a:pt x="111022" y="289223"/>
                </a:lnTo>
                <a:lnTo>
                  <a:pt x="101928" y="269034"/>
                </a:lnTo>
                <a:lnTo>
                  <a:pt x="93010" y="248767"/>
                </a:lnTo>
                <a:lnTo>
                  <a:pt x="84270" y="228423"/>
                </a:lnTo>
                <a:lnTo>
                  <a:pt x="75707" y="208004"/>
                </a:lnTo>
                <a:lnTo>
                  <a:pt x="67323" y="187510"/>
                </a:lnTo>
                <a:lnTo>
                  <a:pt x="59118" y="166944"/>
                </a:lnTo>
                <a:lnTo>
                  <a:pt x="51093" y="146307"/>
                </a:lnTo>
                <a:lnTo>
                  <a:pt x="43248" y="125601"/>
                </a:lnTo>
                <a:lnTo>
                  <a:pt x="35584" y="104828"/>
                </a:lnTo>
                <a:lnTo>
                  <a:pt x="28102" y="83988"/>
                </a:lnTo>
                <a:lnTo>
                  <a:pt x="20802" y="63084"/>
                </a:lnTo>
                <a:lnTo>
                  <a:pt x="13685" y="42117"/>
                </a:lnTo>
                <a:lnTo>
                  <a:pt x="6750" y="21088"/>
                </a:lnTo>
                <a:lnTo>
                  <a:pt x="0" y="0"/>
                </a:lnTo>
              </a:path>
            </a:pathLst>
          </a:custGeom>
          <a:noFill/>
          <a:ln w="11430">
            <a:solidFill>
              <a:srgbClr val="4F506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label: МИССИЯ"/>
          <p:cNvSpPr txBox="1"/>
          <p:nvPr/>
        </p:nvSpPr>
        <p:spPr>
          <a:xfrm>
            <a:off x="648000" y="571618"/>
            <a:ext cx="5400000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138">
                <a:solidFill>
                  <a:srgbClr val="A0A0AD"/>
                </a:solidFill>
                <a:latin typeface="Onest SemiBold"/>
                <a:ea typeface="Onest SemiBold"/>
                <a:cs typeface="Onest SemiBold"/>
              </a:rPr>
              <a:t>МИССИЯ</a:t>
            </a:r>
          </a:p>
        </p:txBody>
      </p:sp>
      <p:sp>
        <p:nvSpPr>
          <p:cNvPr id="5" name="title: Укрепляем энергетику,"/>
          <p:cNvSpPr txBox="1"/>
          <p:nvPr/>
        </p:nvSpPr>
        <p:spPr>
          <a:xfrm>
            <a:off x="648000" y="1319972"/>
            <a:ext cx="9062835" cy="28163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6720"/>
              </a:lnSpc>
              <a:spcBef>
                <a:spcPts val="0"/>
              </a:spcBef>
              <a:spcAft>
                <a:spcPts val="0"/>
              </a:spcAft>
            </a:pPr>
            <a:r>
              <a:rPr sz="6720" b="0" i="0" spc="-134">
                <a:solidFill>
                  <a:srgbClr val="F2F1EE"/>
                </a:solidFill>
                <a:latin typeface="PT Serif"/>
                <a:ea typeface="PT Serif"/>
                <a:cs typeface="PT Serif"/>
              </a:rPr>
              <a:t>Укрепляем энергетику,</a:t>
            </a:r>
          </a:p>
          <a:p>
            <a:pPr algn="l">
              <a:lnSpc>
                <a:spcPts val="6720"/>
              </a:lnSpc>
              <a:spcBef>
                <a:spcPts val="0"/>
              </a:spcBef>
              <a:spcAft>
                <a:spcPts val="0"/>
              </a:spcAft>
            </a:pPr>
            <a:r>
              <a:rPr sz="6720" b="0" i="0" spc="-134">
                <a:solidFill>
                  <a:srgbClr val="F2F1EE"/>
                </a:solidFill>
                <a:latin typeface="PT Serif"/>
                <a:ea typeface="PT Serif"/>
                <a:cs typeface="PT Serif"/>
              </a:rPr>
              <a:t>на которой держится</a:t>
            </a:r>
          </a:p>
          <a:p>
            <a:pPr algn="l">
              <a:lnSpc>
                <a:spcPts val="6720"/>
              </a:lnSpc>
              <a:spcBef>
                <a:spcPts val="0"/>
              </a:spcBef>
              <a:spcAft>
                <a:spcPts val="0"/>
              </a:spcAft>
            </a:pPr>
            <a:r>
              <a:rPr sz="6720" b="0" i="0" spc="-134">
                <a:solidFill>
                  <a:srgbClr val="F2F1EE"/>
                </a:solidFill>
                <a:latin typeface="PT Serif"/>
                <a:ea typeface="PT Serif"/>
                <a:cs typeface="PT Serif"/>
              </a:rPr>
              <a:t>экономика страны</a:t>
            </a:r>
          </a:p>
        </p:txBody>
      </p:sp>
      <p:sp>
        <p:nvSpPr>
          <p:cNvPr id="6" name="body: Участвуем в проектах, которые "/>
          <p:cNvSpPr txBox="1"/>
          <p:nvPr/>
        </p:nvSpPr>
        <p:spPr>
          <a:xfrm>
            <a:off x="7109007" y="4331713"/>
            <a:ext cx="4435005" cy="12910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14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 spc="0">
                <a:solidFill>
                  <a:srgbClr val="A0A0AD"/>
                </a:solidFill>
                <a:latin typeface="Onest"/>
                <a:ea typeface="Onest"/>
                <a:cs typeface="Onest"/>
              </a:rPr>
              <a:t>Участвуем в проектах, которые создают</a:t>
            </a:r>
          </a:p>
          <a:p>
            <a:pPr algn="l">
              <a:lnSpc>
                <a:spcPts val="2414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 spc="0">
                <a:solidFill>
                  <a:srgbClr val="A0A0AD"/>
                </a:solidFill>
                <a:latin typeface="Onest"/>
                <a:ea typeface="Onest"/>
                <a:cs typeface="Onest"/>
              </a:rPr>
              <a:t>условия для постоянного развития</a:t>
            </a:r>
          </a:p>
          <a:p>
            <a:pPr algn="l">
              <a:lnSpc>
                <a:spcPts val="2414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 spc="0">
                <a:solidFill>
                  <a:srgbClr val="A0A0AD"/>
                </a:solidFill>
                <a:latin typeface="Onest"/>
                <a:ea typeface="Onest"/>
                <a:cs typeface="Onest"/>
              </a:rPr>
              <a:t>экономики РФ, — от подготовки проекта</a:t>
            </a:r>
          </a:p>
          <a:p>
            <a:pPr algn="l">
              <a:lnSpc>
                <a:spcPts val="2414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 spc="0">
                <a:solidFill>
                  <a:srgbClr val="A0A0AD"/>
                </a:solidFill>
                <a:latin typeface="Onest"/>
                <a:ea typeface="Onest"/>
                <a:cs typeface="Onest"/>
              </a:rPr>
              <a:t>до ввода объекта в эксплуатацию.</a:t>
            </a:r>
          </a:p>
        </p:txBody>
      </p:sp>
      <p:sp>
        <p:nvSpPr>
          <p:cNvPr id="7" name="folio: ЭНЕРГО ГРУПП · 2025"/>
          <p:cNvSpPr txBox="1"/>
          <p:nvPr/>
        </p:nvSpPr>
        <p:spPr>
          <a:xfrm>
            <a:off x="648000" y="6234419"/>
            <a:ext cx="5760000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138">
                <a:solidFill>
                  <a:srgbClr val="A0A0AD"/>
                </a:solidFill>
                <a:latin typeface="Onest SemiBold"/>
                <a:ea typeface="Onest SemiBold"/>
                <a:cs typeface="Onest SemiBold"/>
              </a:rPr>
              <a:t>ЭНЕРГО ГРУПП · 2025</a:t>
            </a:r>
          </a:p>
        </p:txBody>
      </p:sp>
      <p:sp>
        <p:nvSpPr>
          <p:cNvPr id="8" name="folio: 02 / 13"/>
          <p:cNvSpPr txBox="1"/>
          <p:nvPr/>
        </p:nvSpPr>
        <p:spPr>
          <a:xfrm>
            <a:off x="10104012" y="6234419"/>
            <a:ext cx="1440000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138">
                <a:solidFill>
                  <a:srgbClr val="A0A0AD"/>
                </a:solidFill>
                <a:latin typeface="Onest SemiBold"/>
                <a:ea typeface="Onest SemiBold"/>
                <a:cs typeface="Onest SemiBold"/>
              </a:rPr>
              <a:t>02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round"/>
          <p:cNvSpPr/>
          <p:nvPr/>
        </p:nvSpPr>
        <p:spPr>
          <a:xfrm>
            <a:off x="0" y="0"/>
            <a:ext cx="12192012" cy="6858000"/>
          </a:xfrm>
          <a:prstGeom prst="rect">
            <a:avLst/>
          </a:prstGeom>
          <a:solidFill>
            <a:srgbClr val="F2F1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arc"/>
          <p:cNvSpPr/>
          <p:nvPr/>
        </p:nvSpPr>
        <p:spPr>
          <a:xfrm>
            <a:off x="10564302" y="19148"/>
            <a:ext cx="1619545" cy="1346962"/>
          </a:xfrm>
          <a:custGeom>
            <a:avLst/>
            <a:gdLst/>
            <a:ahLst/>
            <a:cxnLst/>
            <a:rect l="0" t="0" r="r" b="b"/>
            <a:pathLst>
              <a:path w="1619545" h="1346962">
                <a:moveTo>
                  <a:pt x="1619545" y="1346962"/>
                </a:moveTo>
                <a:lnTo>
                  <a:pt x="1599040" y="1341754"/>
                </a:lnTo>
                <a:lnTo>
                  <a:pt x="1578581" y="1336368"/>
                </a:lnTo>
                <a:lnTo>
                  <a:pt x="1558170" y="1330803"/>
                </a:lnTo>
                <a:lnTo>
                  <a:pt x="1537808" y="1325060"/>
                </a:lnTo>
                <a:lnTo>
                  <a:pt x="1517497" y="1319140"/>
                </a:lnTo>
                <a:lnTo>
                  <a:pt x="1497239" y="1313043"/>
                </a:lnTo>
                <a:lnTo>
                  <a:pt x="1477034" y="1306769"/>
                </a:lnTo>
                <a:lnTo>
                  <a:pt x="1456885" y="1300320"/>
                </a:lnTo>
                <a:lnTo>
                  <a:pt x="1436793" y="1293694"/>
                </a:lnTo>
                <a:lnTo>
                  <a:pt x="1416760" y="1286894"/>
                </a:lnTo>
                <a:lnTo>
                  <a:pt x="1396786" y="1279919"/>
                </a:lnTo>
                <a:lnTo>
                  <a:pt x="1376875" y="1272770"/>
                </a:lnTo>
                <a:lnTo>
                  <a:pt x="1357026" y="1265447"/>
                </a:lnTo>
                <a:lnTo>
                  <a:pt x="1337242" y="1257952"/>
                </a:lnTo>
                <a:lnTo>
                  <a:pt x="1317524" y="1250284"/>
                </a:lnTo>
                <a:lnTo>
                  <a:pt x="1297874" y="1242444"/>
                </a:lnTo>
                <a:lnTo>
                  <a:pt x="1278294" y="1234434"/>
                </a:lnTo>
                <a:lnTo>
                  <a:pt x="1258783" y="1226252"/>
                </a:lnTo>
                <a:lnTo>
                  <a:pt x="1239345" y="1217901"/>
                </a:lnTo>
                <a:lnTo>
                  <a:pt x="1219981" y="1209381"/>
                </a:lnTo>
                <a:lnTo>
                  <a:pt x="1200691" y="1200691"/>
                </a:lnTo>
                <a:lnTo>
                  <a:pt x="1181478" y="1191834"/>
                </a:lnTo>
                <a:lnTo>
                  <a:pt x="1162344" y="1182810"/>
                </a:lnTo>
                <a:lnTo>
                  <a:pt x="1143288" y="1173618"/>
                </a:lnTo>
                <a:lnTo>
                  <a:pt x="1124314" y="1164261"/>
                </a:lnTo>
                <a:lnTo>
                  <a:pt x="1105422" y="1154739"/>
                </a:lnTo>
                <a:lnTo>
                  <a:pt x="1086614" y="1145052"/>
                </a:lnTo>
                <a:lnTo>
                  <a:pt x="1067891" y="1135201"/>
                </a:lnTo>
                <a:lnTo>
                  <a:pt x="1049255" y="1125188"/>
                </a:lnTo>
                <a:lnTo>
                  <a:pt x="1030706" y="1115012"/>
                </a:lnTo>
                <a:lnTo>
                  <a:pt x="1012248" y="1104674"/>
                </a:lnTo>
                <a:lnTo>
                  <a:pt x="993880" y="1094176"/>
                </a:lnTo>
                <a:lnTo>
                  <a:pt x="975604" y="1083518"/>
                </a:lnTo>
                <a:lnTo>
                  <a:pt x="957423" y="1072701"/>
                </a:lnTo>
                <a:lnTo>
                  <a:pt x="939336" y="1061726"/>
                </a:lnTo>
                <a:lnTo>
                  <a:pt x="921346" y="1050594"/>
                </a:lnTo>
                <a:lnTo>
                  <a:pt x="903453" y="1039304"/>
                </a:lnTo>
                <a:lnTo>
                  <a:pt x="885660" y="1027859"/>
                </a:lnTo>
                <a:lnTo>
                  <a:pt x="867968" y="1016260"/>
                </a:lnTo>
                <a:lnTo>
                  <a:pt x="850377" y="1004506"/>
                </a:lnTo>
                <a:lnTo>
                  <a:pt x="832890" y="992599"/>
                </a:lnTo>
                <a:lnTo>
                  <a:pt x="815507" y="980540"/>
                </a:lnTo>
                <a:lnTo>
                  <a:pt x="798230" y="968330"/>
                </a:lnTo>
                <a:lnTo>
                  <a:pt x="781060" y="955969"/>
                </a:lnTo>
                <a:lnTo>
                  <a:pt x="763999" y="943460"/>
                </a:lnTo>
                <a:lnTo>
                  <a:pt x="747047" y="930801"/>
                </a:lnTo>
                <a:lnTo>
                  <a:pt x="730207" y="917996"/>
                </a:lnTo>
                <a:lnTo>
                  <a:pt x="713479" y="905043"/>
                </a:lnTo>
                <a:lnTo>
                  <a:pt x="696864" y="891946"/>
                </a:lnTo>
                <a:lnTo>
                  <a:pt x="680365" y="878704"/>
                </a:lnTo>
                <a:lnTo>
                  <a:pt x="663982" y="865318"/>
                </a:lnTo>
                <a:lnTo>
                  <a:pt x="647716" y="851790"/>
                </a:lnTo>
                <a:lnTo>
                  <a:pt x="631569" y="838120"/>
                </a:lnTo>
                <a:lnTo>
                  <a:pt x="615542" y="824311"/>
                </a:lnTo>
                <a:lnTo>
                  <a:pt x="599636" y="810361"/>
                </a:lnTo>
                <a:lnTo>
                  <a:pt x="583852" y="796274"/>
                </a:lnTo>
                <a:lnTo>
                  <a:pt x="568192" y="782049"/>
                </a:lnTo>
                <a:lnTo>
                  <a:pt x="552656" y="767688"/>
                </a:lnTo>
                <a:lnTo>
                  <a:pt x="537247" y="753192"/>
                </a:lnTo>
                <a:lnTo>
                  <a:pt x="521964" y="738563"/>
                </a:lnTo>
                <a:lnTo>
                  <a:pt x="506810" y="723800"/>
                </a:lnTo>
                <a:lnTo>
                  <a:pt x="491785" y="708906"/>
                </a:lnTo>
                <a:lnTo>
                  <a:pt x="476891" y="693881"/>
                </a:lnTo>
                <a:lnTo>
                  <a:pt x="462129" y="678727"/>
                </a:lnTo>
                <a:lnTo>
                  <a:pt x="447499" y="663444"/>
                </a:lnTo>
                <a:lnTo>
                  <a:pt x="433003" y="648035"/>
                </a:lnTo>
                <a:lnTo>
                  <a:pt x="418642" y="632499"/>
                </a:lnTo>
                <a:lnTo>
                  <a:pt x="404417" y="616839"/>
                </a:lnTo>
                <a:lnTo>
                  <a:pt x="390330" y="601055"/>
                </a:lnTo>
                <a:lnTo>
                  <a:pt x="376381" y="585149"/>
                </a:lnTo>
                <a:lnTo>
                  <a:pt x="362571" y="569122"/>
                </a:lnTo>
                <a:lnTo>
                  <a:pt x="348901" y="552975"/>
                </a:lnTo>
                <a:lnTo>
                  <a:pt x="335373" y="536709"/>
                </a:lnTo>
                <a:lnTo>
                  <a:pt x="321988" y="520326"/>
                </a:lnTo>
                <a:lnTo>
                  <a:pt x="308746" y="503827"/>
                </a:lnTo>
                <a:lnTo>
                  <a:pt x="295648" y="487213"/>
                </a:lnTo>
                <a:lnTo>
                  <a:pt x="282696" y="470485"/>
                </a:lnTo>
                <a:lnTo>
                  <a:pt x="269890" y="453644"/>
                </a:lnTo>
                <a:lnTo>
                  <a:pt x="257232" y="436693"/>
                </a:lnTo>
                <a:lnTo>
                  <a:pt x="244722" y="419632"/>
                </a:lnTo>
                <a:lnTo>
                  <a:pt x="232361" y="402462"/>
                </a:lnTo>
                <a:lnTo>
                  <a:pt x="220151" y="385185"/>
                </a:lnTo>
                <a:lnTo>
                  <a:pt x="208092" y="367802"/>
                </a:lnTo>
                <a:lnTo>
                  <a:pt x="196185" y="350314"/>
                </a:lnTo>
                <a:lnTo>
                  <a:pt x="184432" y="332724"/>
                </a:lnTo>
                <a:lnTo>
                  <a:pt x="172832" y="315031"/>
                </a:lnTo>
                <a:lnTo>
                  <a:pt x="161387" y="297238"/>
                </a:lnTo>
                <a:lnTo>
                  <a:pt x="150098" y="279345"/>
                </a:lnTo>
                <a:lnTo>
                  <a:pt x="138965" y="261355"/>
                </a:lnTo>
                <a:lnTo>
                  <a:pt x="127990" y="243269"/>
                </a:lnTo>
                <a:lnTo>
                  <a:pt x="117173" y="225087"/>
                </a:lnTo>
                <a:lnTo>
                  <a:pt x="106515" y="206811"/>
                </a:lnTo>
                <a:lnTo>
                  <a:pt x="96017" y="188444"/>
                </a:lnTo>
                <a:lnTo>
                  <a:pt x="85679" y="169985"/>
                </a:lnTo>
                <a:lnTo>
                  <a:pt x="75504" y="151437"/>
                </a:lnTo>
                <a:lnTo>
                  <a:pt x="65490" y="132801"/>
                </a:lnTo>
                <a:lnTo>
                  <a:pt x="55639" y="114078"/>
                </a:lnTo>
                <a:lnTo>
                  <a:pt x="45952" y="95269"/>
                </a:lnTo>
                <a:lnTo>
                  <a:pt x="36430" y="76377"/>
                </a:lnTo>
                <a:lnTo>
                  <a:pt x="27073" y="57403"/>
                </a:lnTo>
                <a:lnTo>
                  <a:pt x="17882" y="38348"/>
                </a:lnTo>
                <a:lnTo>
                  <a:pt x="8857" y="19213"/>
                </a:lnTo>
                <a:lnTo>
                  <a:pt x="0" y="0"/>
                </a:lnTo>
              </a:path>
            </a:pathLst>
          </a:custGeom>
          <a:noFill/>
          <a:ln w="11430">
            <a:solidFill>
              <a:srgbClr val="C2C2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label: КОМПАНИЯ В ЦИФРАХ"/>
          <p:cNvSpPr txBox="1"/>
          <p:nvPr/>
        </p:nvSpPr>
        <p:spPr>
          <a:xfrm>
            <a:off x="648000" y="571618"/>
            <a:ext cx="5400000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138">
                <a:solidFill>
                  <a:srgbClr val="6C6C70"/>
                </a:solidFill>
                <a:latin typeface="Onest SemiBold"/>
                <a:ea typeface="Onest SemiBold"/>
                <a:cs typeface="Onest SemiBold"/>
              </a:rPr>
              <a:t>КОМПАНИЯ В ЦИФРАХ</a:t>
            </a:r>
          </a:p>
        </p:txBody>
      </p:sp>
      <p:sp>
        <p:nvSpPr>
          <p:cNvPr id="5" name="title: Что уже построено"/>
          <p:cNvSpPr txBox="1"/>
          <p:nvPr/>
        </p:nvSpPr>
        <p:spPr>
          <a:xfrm>
            <a:off x="648000" y="1241661"/>
            <a:ext cx="6281007" cy="6835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140"/>
              </a:lnSpc>
              <a:spcBef>
                <a:spcPts val="0"/>
              </a:spcBef>
              <a:spcAft>
                <a:spcPts val="0"/>
              </a:spcAft>
            </a:pPr>
            <a:r>
              <a:rPr sz="4140" b="0" i="0" spc="-83">
                <a:solidFill>
                  <a:srgbClr val="1A1B26"/>
                </a:solidFill>
                <a:latin typeface="PT Serif"/>
                <a:ea typeface="PT Serif"/>
                <a:cs typeface="PT Serif"/>
              </a:rPr>
              <a:t>Что уже построено</a:t>
            </a:r>
          </a:p>
        </p:txBody>
      </p:sp>
      <p:sp>
        <p:nvSpPr>
          <p:cNvPr id="6" name="hero: 413 278"/>
          <p:cNvSpPr txBox="1"/>
          <p:nvPr/>
        </p:nvSpPr>
        <p:spPr>
          <a:xfrm>
            <a:off x="612000" y="3465336"/>
            <a:ext cx="5358006" cy="19312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404"/>
              </a:lnSpc>
              <a:spcBef>
                <a:spcPts val="0"/>
              </a:spcBef>
              <a:spcAft>
                <a:spcPts val="0"/>
              </a:spcAft>
            </a:pPr>
            <a:r>
              <a:rPr sz="12672" b="0" i="0" spc="-507">
                <a:solidFill>
                  <a:srgbClr val="1A1B26"/>
                </a:solidFill>
                <a:latin typeface="PT Serif"/>
                <a:ea typeface="PT Serif"/>
                <a:cs typeface="PT Serif"/>
              </a:rPr>
              <a:t>413 278</a:t>
            </a:r>
          </a:p>
        </p:txBody>
      </p:sp>
      <p:sp>
        <p:nvSpPr>
          <p:cNvPr id="7" name="body: опор ЛЭП использовано"/>
          <p:cNvSpPr txBox="1"/>
          <p:nvPr/>
        </p:nvSpPr>
        <p:spPr>
          <a:xfrm>
            <a:off x="648000" y="5142174"/>
            <a:ext cx="4286405" cy="67792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14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 spc="0">
                <a:solidFill>
                  <a:srgbClr val="6C6C70"/>
                </a:solidFill>
                <a:latin typeface="Onest"/>
                <a:ea typeface="Onest"/>
                <a:cs typeface="Onest"/>
              </a:rPr>
              <a:t>опор ЛЭП использовано</a:t>
            </a:r>
          </a:p>
          <a:p>
            <a:pPr algn="l">
              <a:lnSpc>
                <a:spcPts val="2414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 spc="0">
                <a:solidFill>
                  <a:srgbClr val="6C6C70"/>
                </a:solidFill>
                <a:latin typeface="Onest"/>
                <a:ea typeface="Onest"/>
                <a:cs typeface="Onest"/>
              </a:rPr>
              <a:t>при строительстве</a:t>
            </a:r>
          </a:p>
        </p:txBody>
      </p:sp>
      <p:cxnSp>
        <p:nvCxnSpPr>
          <p:cNvPr id="8" name="motif"/>
          <p:cNvCxnSpPr/>
          <p:nvPr/>
        </p:nvCxnSpPr>
        <p:spPr>
          <a:xfrm>
            <a:off x="6186006" y="3186000"/>
            <a:ext cx="2571003" cy="0"/>
          </a:xfrm>
          <a:prstGeom prst="line">
            <a:avLst/>
          </a:prstGeom>
          <a:ln w="6350">
            <a:solidFill>
              <a:srgbClr val="C2C2C2"/>
            </a:solidFill>
          </a:ln>
          <a:effectLst/>
        </p:spPr>
      </p:cxnSp>
      <p:sp>
        <p:nvSpPr>
          <p:cNvPr id="9" name="stat: 25 800 км"/>
          <p:cNvSpPr txBox="1"/>
          <p:nvPr/>
        </p:nvSpPr>
        <p:spPr>
          <a:xfrm>
            <a:off x="6186006" y="3408734"/>
            <a:ext cx="2571003" cy="6240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780"/>
              </a:lnSpc>
              <a:spcBef>
                <a:spcPts val="0"/>
              </a:spcBef>
              <a:spcAft>
                <a:spcPts val="0"/>
              </a:spcAft>
            </a:pPr>
            <a:r>
              <a:rPr sz="3780" b="0" i="0" spc="-113">
                <a:solidFill>
                  <a:srgbClr val="1A1B26"/>
                </a:solidFill>
                <a:latin typeface="PT Serif"/>
                <a:ea typeface="PT Serif"/>
                <a:cs typeface="PT Serif"/>
              </a:rPr>
              <a:t>25 800 км</a:t>
            </a:r>
          </a:p>
        </p:txBody>
      </p:sp>
      <p:sp>
        <p:nvSpPr>
          <p:cNvPr id="10" name="body: проводов протянуто"/>
          <p:cNvSpPr txBox="1"/>
          <p:nvPr/>
        </p:nvSpPr>
        <p:spPr>
          <a:xfrm>
            <a:off x="6186006" y="3942804"/>
            <a:ext cx="2571003" cy="5184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46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spc="0">
                <a:solidFill>
                  <a:srgbClr val="6C6C70"/>
                </a:solidFill>
                <a:latin typeface="Onest"/>
                <a:ea typeface="Onest"/>
                <a:cs typeface="Onest"/>
              </a:rPr>
              <a:t>проводов протянуто</a:t>
            </a:r>
          </a:p>
          <a:p>
            <a:pPr algn="l">
              <a:lnSpc>
                <a:spcPts val="1846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spc="0">
                <a:solidFill>
                  <a:srgbClr val="6C6C70"/>
                </a:solidFill>
                <a:latin typeface="Onest"/>
                <a:ea typeface="Onest"/>
                <a:cs typeface="Onest"/>
              </a:rPr>
              <a:t>на воздушных ЛЭП</a:t>
            </a:r>
          </a:p>
        </p:txBody>
      </p:sp>
      <p:cxnSp>
        <p:nvCxnSpPr>
          <p:cNvPr id="11" name="motif"/>
          <p:cNvCxnSpPr/>
          <p:nvPr/>
        </p:nvCxnSpPr>
        <p:spPr>
          <a:xfrm>
            <a:off x="8973009" y="3186000"/>
            <a:ext cx="2571003" cy="0"/>
          </a:xfrm>
          <a:prstGeom prst="line">
            <a:avLst/>
          </a:prstGeom>
          <a:ln w="6350">
            <a:solidFill>
              <a:srgbClr val="C2C2C2"/>
            </a:solidFill>
          </a:ln>
          <a:effectLst/>
        </p:spPr>
      </p:cxnSp>
      <p:sp>
        <p:nvSpPr>
          <p:cNvPr id="12" name="stat: 1 224"/>
          <p:cNvSpPr txBox="1"/>
          <p:nvPr/>
        </p:nvSpPr>
        <p:spPr>
          <a:xfrm>
            <a:off x="8973009" y="3408734"/>
            <a:ext cx="2571003" cy="6240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780"/>
              </a:lnSpc>
              <a:spcBef>
                <a:spcPts val="0"/>
              </a:spcBef>
              <a:spcAft>
                <a:spcPts val="0"/>
              </a:spcAft>
            </a:pPr>
            <a:r>
              <a:rPr sz="3780" b="0" i="0" spc="-113">
                <a:solidFill>
                  <a:srgbClr val="1A1B26"/>
                </a:solidFill>
                <a:latin typeface="PT Serif"/>
                <a:ea typeface="PT Serif"/>
                <a:cs typeface="PT Serif"/>
              </a:rPr>
              <a:t>1 224</a:t>
            </a:r>
          </a:p>
        </p:txBody>
      </p:sp>
      <p:sp>
        <p:nvSpPr>
          <p:cNvPr id="13" name="body: ПС, ТП и РП построено"/>
          <p:cNvSpPr txBox="1"/>
          <p:nvPr/>
        </p:nvSpPr>
        <p:spPr>
          <a:xfrm>
            <a:off x="8973009" y="3942804"/>
            <a:ext cx="2571003" cy="2839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46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spc="0">
                <a:solidFill>
                  <a:srgbClr val="6C6C70"/>
                </a:solidFill>
                <a:latin typeface="Onest"/>
                <a:ea typeface="Onest"/>
                <a:cs typeface="Onest"/>
              </a:rPr>
              <a:t>ПС, ТП и РП построено</a:t>
            </a:r>
          </a:p>
        </p:txBody>
      </p:sp>
      <p:cxnSp>
        <p:nvCxnSpPr>
          <p:cNvPr id="14" name="motif"/>
          <p:cNvCxnSpPr/>
          <p:nvPr/>
        </p:nvCxnSpPr>
        <p:spPr>
          <a:xfrm>
            <a:off x="6186006" y="4482000"/>
            <a:ext cx="2571003" cy="0"/>
          </a:xfrm>
          <a:prstGeom prst="line">
            <a:avLst/>
          </a:prstGeom>
          <a:ln w="6350">
            <a:solidFill>
              <a:srgbClr val="C2C2C2"/>
            </a:solidFill>
          </a:ln>
          <a:effectLst/>
        </p:spPr>
      </p:cxnSp>
      <p:sp>
        <p:nvSpPr>
          <p:cNvPr id="15" name="stat: 502 000"/>
          <p:cNvSpPr txBox="1"/>
          <p:nvPr/>
        </p:nvSpPr>
        <p:spPr>
          <a:xfrm>
            <a:off x="6186006" y="4704734"/>
            <a:ext cx="2571003" cy="6240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780"/>
              </a:lnSpc>
              <a:spcBef>
                <a:spcPts val="0"/>
              </a:spcBef>
              <a:spcAft>
                <a:spcPts val="0"/>
              </a:spcAft>
            </a:pPr>
            <a:r>
              <a:rPr sz="3780" b="0" i="0" spc="-113">
                <a:solidFill>
                  <a:srgbClr val="1A1B26"/>
                </a:solidFill>
                <a:latin typeface="PT Serif"/>
                <a:ea typeface="PT Serif"/>
                <a:cs typeface="PT Serif"/>
              </a:rPr>
              <a:t>502 000</a:t>
            </a:r>
          </a:p>
        </p:txBody>
      </p:sp>
      <p:sp>
        <p:nvSpPr>
          <p:cNvPr id="16" name="body: объектов подключено к сетям"/>
          <p:cNvSpPr txBox="1"/>
          <p:nvPr/>
        </p:nvSpPr>
        <p:spPr>
          <a:xfrm>
            <a:off x="6186006" y="5238805"/>
            <a:ext cx="2571003" cy="2839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46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spc="0">
                <a:solidFill>
                  <a:srgbClr val="6C6C70"/>
                </a:solidFill>
                <a:latin typeface="Onest"/>
                <a:ea typeface="Onest"/>
                <a:cs typeface="Onest"/>
              </a:rPr>
              <a:t>объектов подключено к сетям</a:t>
            </a:r>
          </a:p>
        </p:txBody>
      </p:sp>
      <p:cxnSp>
        <p:nvCxnSpPr>
          <p:cNvPr id="17" name="motif"/>
          <p:cNvCxnSpPr/>
          <p:nvPr/>
        </p:nvCxnSpPr>
        <p:spPr>
          <a:xfrm>
            <a:off x="8973009" y="4482000"/>
            <a:ext cx="2571003" cy="0"/>
          </a:xfrm>
          <a:prstGeom prst="line">
            <a:avLst/>
          </a:prstGeom>
          <a:ln w="6350">
            <a:solidFill>
              <a:srgbClr val="C2C2C2"/>
            </a:solidFill>
          </a:ln>
          <a:effectLst/>
        </p:spPr>
      </p:cxnSp>
      <p:sp>
        <p:nvSpPr>
          <p:cNvPr id="18" name="stat: 339 км"/>
          <p:cNvSpPr txBox="1"/>
          <p:nvPr/>
        </p:nvSpPr>
        <p:spPr>
          <a:xfrm>
            <a:off x="8973009" y="4704734"/>
            <a:ext cx="2571003" cy="6240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780"/>
              </a:lnSpc>
              <a:spcBef>
                <a:spcPts val="0"/>
              </a:spcBef>
              <a:spcAft>
                <a:spcPts val="0"/>
              </a:spcAft>
            </a:pPr>
            <a:r>
              <a:rPr sz="3780" b="0" i="0" spc="-113">
                <a:solidFill>
                  <a:srgbClr val="1A1B26"/>
                </a:solidFill>
                <a:latin typeface="PT Serif"/>
                <a:ea typeface="PT Serif"/>
                <a:cs typeface="PT Serif"/>
              </a:rPr>
              <a:t>339 км</a:t>
            </a:r>
          </a:p>
        </p:txBody>
      </p:sp>
      <p:sp>
        <p:nvSpPr>
          <p:cNvPr id="19" name="body: ГНБ-прокола"/>
          <p:cNvSpPr txBox="1"/>
          <p:nvPr/>
        </p:nvSpPr>
        <p:spPr>
          <a:xfrm>
            <a:off x="8973009" y="5238805"/>
            <a:ext cx="2571003" cy="2839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46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spc="0">
                <a:solidFill>
                  <a:srgbClr val="6C6C70"/>
                </a:solidFill>
                <a:latin typeface="Onest"/>
                <a:ea typeface="Onest"/>
                <a:cs typeface="Onest"/>
              </a:rPr>
              <a:t>ГНБ-прокола</a:t>
            </a:r>
          </a:p>
        </p:txBody>
      </p:sp>
      <p:sp>
        <p:nvSpPr>
          <p:cNvPr id="20" name="folio: ЭНЕРГО ГРУПП · 2025"/>
          <p:cNvSpPr txBox="1"/>
          <p:nvPr/>
        </p:nvSpPr>
        <p:spPr>
          <a:xfrm>
            <a:off x="648000" y="6234419"/>
            <a:ext cx="5760000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138">
                <a:solidFill>
                  <a:srgbClr val="6C6C70"/>
                </a:solidFill>
                <a:latin typeface="Onest SemiBold"/>
                <a:ea typeface="Onest SemiBold"/>
                <a:cs typeface="Onest SemiBold"/>
              </a:rPr>
              <a:t>ЭНЕРГО ГРУПП · 2025</a:t>
            </a:r>
          </a:p>
        </p:txBody>
      </p:sp>
      <p:sp>
        <p:nvSpPr>
          <p:cNvPr id="21" name="folio: 03 / 13"/>
          <p:cNvSpPr txBox="1"/>
          <p:nvPr/>
        </p:nvSpPr>
        <p:spPr>
          <a:xfrm>
            <a:off x="10104012" y="6234419"/>
            <a:ext cx="1440000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138">
                <a:solidFill>
                  <a:srgbClr val="6C6C70"/>
                </a:solidFill>
                <a:latin typeface="Onest SemiBold"/>
                <a:ea typeface="Onest SemiBold"/>
                <a:cs typeface="Onest SemiBold"/>
              </a:rPr>
              <a:t>03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round"/>
          <p:cNvSpPr/>
          <p:nvPr/>
        </p:nvSpPr>
        <p:spPr>
          <a:xfrm>
            <a:off x="0" y="0"/>
            <a:ext cx="12192012" cy="6858000"/>
          </a:xfrm>
          <a:prstGeom prst="rect">
            <a:avLst/>
          </a:prstGeom>
          <a:solidFill>
            <a:srgbClr val="21233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arc"/>
          <p:cNvSpPr/>
          <p:nvPr/>
        </p:nvSpPr>
        <p:spPr>
          <a:xfrm>
            <a:off x="10575489" y="21293"/>
            <a:ext cx="1614281" cy="1686300"/>
          </a:xfrm>
          <a:custGeom>
            <a:avLst/>
            <a:gdLst/>
            <a:ahLst/>
            <a:cxnLst/>
            <a:rect l="0" t="0" r="r" b="b"/>
            <a:pathLst>
              <a:path w="1614281" h="1686300">
                <a:moveTo>
                  <a:pt x="1614281" y="1686300"/>
                </a:moveTo>
                <a:lnTo>
                  <a:pt x="1592026" y="1677645"/>
                </a:lnTo>
                <a:lnTo>
                  <a:pt x="1569847" y="1668797"/>
                </a:lnTo>
                <a:lnTo>
                  <a:pt x="1547747" y="1659755"/>
                </a:lnTo>
                <a:lnTo>
                  <a:pt x="1525726" y="1650521"/>
                </a:lnTo>
                <a:lnTo>
                  <a:pt x="1503787" y="1641096"/>
                </a:lnTo>
                <a:lnTo>
                  <a:pt x="1481931" y="1631479"/>
                </a:lnTo>
                <a:lnTo>
                  <a:pt x="1460159" y="1621671"/>
                </a:lnTo>
                <a:lnTo>
                  <a:pt x="1438474" y="1611674"/>
                </a:lnTo>
                <a:lnTo>
                  <a:pt x="1416877" y="1601489"/>
                </a:lnTo>
                <a:lnTo>
                  <a:pt x="1395370" y="1591115"/>
                </a:lnTo>
                <a:lnTo>
                  <a:pt x="1373954" y="1580554"/>
                </a:lnTo>
                <a:lnTo>
                  <a:pt x="1352631" y="1569806"/>
                </a:lnTo>
                <a:lnTo>
                  <a:pt x="1331403" y="1558873"/>
                </a:lnTo>
                <a:lnTo>
                  <a:pt x="1310271" y="1547754"/>
                </a:lnTo>
                <a:lnTo>
                  <a:pt x="1289237" y="1536452"/>
                </a:lnTo>
                <a:lnTo>
                  <a:pt x="1268302" y="1524967"/>
                </a:lnTo>
                <a:lnTo>
                  <a:pt x="1247468" y="1513300"/>
                </a:lnTo>
                <a:lnTo>
                  <a:pt x="1226737" y="1501451"/>
                </a:lnTo>
                <a:lnTo>
                  <a:pt x="1206110" y="1489421"/>
                </a:lnTo>
                <a:lnTo>
                  <a:pt x="1185588" y="1477213"/>
                </a:lnTo>
                <a:lnTo>
                  <a:pt x="1165174" y="1464825"/>
                </a:lnTo>
                <a:lnTo>
                  <a:pt x="1144869" y="1452260"/>
                </a:lnTo>
                <a:lnTo>
                  <a:pt x="1124675" y="1439518"/>
                </a:lnTo>
                <a:lnTo>
                  <a:pt x="1104592" y="1426600"/>
                </a:lnTo>
                <a:lnTo>
                  <a:pt x="1084623" y="1413508"/>
                </a:lnTo>
                <a:lnTo>
                  <a:pt x="1064769" y="1400242"/>
                </a:lnTo>
                <a:lnTo>
                  <a:pt x="1045031" y="1386803"/>
                </a:lnTo>
                <a:lnTo>
                  <a:pt x="1025411" y="1373192"/>
                </a:lnTo>
                <a:lnTo>
                  <a:pt x="1005911" y="1359411"/>
                </a:lnTo>
                <a:lnTo>
                  <a:pt x="986532" y="1345460"/>
                </a:lnTo>
                <a:lnTo>
                  <a:pt x="967275" y="1331340"/>
                </a:lnTo>
                <a:lnTo>
                  <a:pt x="948143" y="1317053"/>
                </a:lnTo>
                <a:lnTo>
                  <a:pt x="929136" y="1302600"/>
                </a:lnTo>
                <a:lnTo>
                  <a:pt x="910255" y="1287981"/>
                </a:lnTo>
                <a:lnTo>
                  <a:pt x="891503" y="1273198"/>
                </a:lnTo>
                <a:lnTo>
                  <a:pt x="872881" y="1258252"/>
                </a:lnTo>
                <a:lnTo>
                  <a:pt x="854389" y="1243144"/>
                </a:lnTo>
                <a:lnTo>
                  <a:pt x="836031" y="1227875"/>
                </a:lnTo>
                <a:lnTo>
                  <a:pt x="817806" y="1212447"/>
                </a:lnTo>
                <a:lnTo>
                  <a:pt x="799716" y="1196860"/>
                </a:lnTo>
                <a:lnTo>
                  <a:pt x="781764" y="1181116"/>
                </a:lnTo>
                <a:lnTo>
                  <a:pt x="763949" y="1165216"/>
                </a:lnTo>
                <a:lnTo>
                  <a:pt x="746274" y="1149161"/>
                </a:lnTo>
                <a:lnTo>
                  <a:pt x="728739" y="1132952"/>
                </a:lnTo>
                <a:lnTo>
                  <a:pt x="711347" y="1116591"/>
                </a:lnTo>
                <a:lnTo>
                  <a:pt x="694098" y="1100079"/>
                </a:lnTo>
                <a:lnTo>
                  <a:pt x="676994" y="1083416"/>
                </a:lnTo>
                <a:lnTo>
                  <a:pt x="660036" y="1066606"/>
                </a:lnTo>
                <a:lnTo>
                  <a:pt x="643225" y="1049648"/>
                </a:lnTo>
                <a:lnTo>
                  <a:pt x="626563" y="1032543"/>
                </a:lnTo>
                <a:lnTo>
                  <a:pt x="610050" y="1015295"/>
                </a:lnTo>
                <a:lnTo>
                  <a:pt x="593689" y="997902"/>
                </a:lnTo>
                <a:lnTo>
                  <a:pt x="577481" y="980368"/>
                </a:lnTo>
                <a:lnTo>
                  <a:pt x="561426" y="962692"/>
                </a:lnTo>
                <a:lnTo>
                  <a:pt x="545525" y="944878"/>
                </a:lnTo>
                <a:lnTo>
                  <a:pt x="529781" y="926925"/>
                </a:lnTo>
                <a:lnTo>
                  <a:pt x="514194" y="908836"/>
                </a:lnTo>
                <a:lnTo>
                  <a:pt x="498766" y="890611"/>
                </a:lnTo>
                <a:lnTo>
                  <a:pt x="483497" y="872252"/>
                </a:lnTo>
                <a:lnTo>
                  <a:pt x="468389" y="853761"/>
                </a:lnTo>
                <a:lnTo>
                  <a:pt x="453443" y="835138"/>
                </a:lnTo>
                <a:lnTo>
                  <a:pt x="438660" y="816386"/>
                </a:lnTo>
                <a:lnTo>
                  <a:pt x="424041" y="797506"/>
                </a:lnTo>
                <a:lnTo>
                  <a:pt x="409588" y="778499"/>
                </a:lnTo>
                <a:lnTo>
                  <a:pt x="395301" y="759366"/>
                </a:lnTo>
                <a:lnTo>
                  <a:pt x="381181" y="740109"/>
                </a:lnTo>
                <a:lnTo>
                  <a:pt x="367230" y="720730"/>
                </a:lnTo>
                <a:lnTo>
                  <a:pt x="353449" y="701230"/>
                </a:lnTo>
                <a:lnTo>
                  <a:pt x="339838" y="681610"/>
                </a:lnTo>
                <a:lnTo>
                  <a:pt x="326399" y="661873"/>
                </a:lnTo>
                <a:lnTo>
                  <a:pt x="313133" y="642019"/>
                </a:lnTo>
                <a:lnTo>
                  <a:pt x="300041" y="622049"/>
                </a:lnTo>
                <a:lnTo>
                  <a:pt x="287123" y="601967"/>
                </a:lnTo>
                <a:lnTo>
                  <a:pt x="274381" y="581772"/>
                </a:lnTo>
                <a:lnTo>
                  <a:pt x="261816" y="561467"/>
                </a:lnTo>
                <a:lnTo>
                  <a:pt x="249429" y="541053"/>
                </a:lnTo>
                <a:lnTo>
                  <a:pt x="237220" y="520532"/>
                </a:lnTo>
                <a:lnTo>
                  <a:pt x="225191" y="499905"/>
                </a:lnTo>
                <a:lnTo>
                  <a:pt x="213342" y="479173"/>
                </a:lnTo>
                <a:lnTo>
                  <a:pt x="201674" y="458340"/>
                </a:lnTo>
                <a:lnTo>
                  <a:pt x="190189" y="437405"/>
                </a:lnTo>
                <a:lnTo>
                  <a:pt x="178887" y="416370"/>
                </a:lnTo>
                <a:lnTo>
                  <a:pt x="167769" y="395238"/>
                </a:lnTo>
                <a:lnTo>
                  <a:pt x="156835" y="374010"/>
                </a:lnTo>
                <a:lnTo>
                  <a:pt x="146088" y="352687"/>
                </a:lnTo>
                <a:lnTo>
                  <a:pt x="135527" y="331271"/>
                </a:lnTo>
                <a:lnTo>
                  <a:pt x="125153" y="309764"/>
                </a:lnTo>
                <a:lnTo>
                  <a:pt x="114967" y="288167"/>
                </a:lnTo>
                <a:lnTo>
                  <a:pt x="104970" y="266482"/>
                </a:lnTo>
                <a:lnTo>
                  <a:pt x="95163" y="244710"/>
                </a:lnTo>
                <a:lnTo>
                  <a:pt x="85546" y="222854"/>
                </a:lnTo>
                <a:lnTo>
                  <a:pt x="76120" y="200915"/>
                </a:lnTo>
                <a:lnTo>
                  <a:pt x="66886" y="178894"/>
                </a:lnTo>
                <a:lnTo>
                  <a:pt x="57844" y="156794"/>
                </a:lnTo>
                <a:lnTo>
                  <a:pt x="48996" y="134615"/>
                </a:lnTo>
                <a:lnTo>
                  <a:pt x="40342" y="112360"/>
                </a:lnTo>
                <a:lnTo>
                  <a:pt x="31882" y="90031"/>
                </a:lnTo>
                <a:lnTo>
                  <a:pt x="23617" y="67628"/>
                </a:lnTo>
                <a:lnTo>
                  <a:pt x="15548" y="45155"/>
                </a:lnTo>
                <a:lnTo>
                  <a:pt x="7675" y="22611"/>
                </a:lnTo>
                <a:lnTo>
                  <a:pt x="0" y="0"/>
                </a:lnTo>
              </a:path>
            </a:pathLst>
          </a:custGeom>
          <a:noFill/>
          <a:ln w="11430">
            <a:solidFill>
              <a:srgbClr val="4F506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label: КОМАНДА"/>
          <p:cNvSpPr txBox="1"/>
          <p:nvPr/>
        </p:nvSpPr>
        <p:spPr>
          <a:xfrm>
            <a:off x="648000" y="571618"/>
            <a:ext cx="5400000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138">
                <a:solidFill>
                  <a:srgbClr val="A0A0AD"/>
                </a:solidFill>
                <a:latin typeface="Onest SemiBold"/>
                <a:ea typeface="Onest SemiBold"/>
                <a:cs typeface="Onest SemiBold"/>
              </a:rPr>
              <a:t>КОМАНДА</a:t>
            </a:r>
          </a:p>
        </p:txBody>
      </p:sp>
      <p:sp>
        <p:nvSpPr>
          <p:cNvPr id="5" name="hero: 317"/>
          <p:cNvSpPr txBox="1"/>
          <p:nvPr/>
        </p:nvSpPr>
        <p:spPr>
          <a:xfrm>
            <a:off x="594000" y="2843073"/>
            <a:ext cx="6281007" cy="26822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840"/>
              </a:lnSpc>
              <a:spcBef>
                <a:spcPts val="0"/>
              </a:spcBef>
              <a:spcAft>
                <a:spcPts val="0"/>
              </a:spcAft>
            </a:pPr>
            <a:r>
              <a:rPr sz="17600" b="0" i="0" spc="-792">
                <a:solidFill>
                  <a:srgbClr val="E0872F"/>
                </a:solidFill>
                <a:latin typeface="PT Serif"/>
                <a:ea typeface="PT Serif"/>
                <a:cs typeface="PT Serif"/>
              </a:rPr>
              <a:t>317</a:t>
            </a:r>
          </a:p>
        </p:txBody>
      </p:sp>
      <p:sp>
        <p:nvSpPr>
          <p:cNvPr id="6" name="unit: сотрудников в штате"/>
          <p:cNvSpPr txBox="1"/>
          <p:nvPr/>
        </p:nvSpPr>
        <p:spPr>
          <a:xfrm>
            <a:off x="648000" y="5142983"/>
            <a:ext cx="6281007" cy="4800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 spc="-27">
                <a:solidFill>
                  <a:srgbClr val="F2F1EE"/>
                </a:solidFill>
                <a:latin typeface="Onest SemiBold"/>
                <a:ea typeface="Onest SemiBold"/>
                <a:cs typeface="Onest SemiBold"/>
              </a:rPr>
              <a:t>сотрудников в штате</a:t>
            </a:r>
          </a:p>
        </p:txBody>
      </p:sp>
      <p:sp>
        <p:nvSpPr>
          <p:cNvPr id="7" name="title: Своя команда —"/>
          <p:cNvSpPr txBox="1"/>
          <p:nvPr/>
        </p:nvSpPr>
        <p:spPr>
          <a:xfrm>
            <a:off x="8032008" y="2266611"/>
            <a:ext cx="3536323" cy="15087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 spc="-72">
                <a:solidFill>
                  <a:srgbClr val="F2F1EE"/>
                </a:solidFill>
                <a:latin typeface="PT Serif"/>
                <a:ea typeface="PT Serif"/>
                <a:cs typeface="PT Serif"/>
              </a:rPr>
              <a:t>Своя команда —</a:t>
            </a:r>
          </a:p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 spc="-72">
                <a:solidFill>
                  <a:srgbClr val="F2F1EE"/>
                </a:solidFill>
                <a:latin typeface="PT Serif"/>
                <a:ea typeface="PT Serif"/>
                <a:cs typeface="PT Serif"/>
              </a:rPr>
              <a:t>от проекта</a:t>
            </a:r>
          </a:p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 spc="-72">
                <a:solidFill>
                  <a:srgbClr val="F2F1EE"/>
                </a:solidFill>
                <a:latin typeface="PT Serif"/>
                <a:ea typeface="PT Serif"/>
                <a:cs typeface="PT Serif"/>
              </a:rPr>
              <a:t>до пусконаладки</a:t>
            </a:r>
          </a:p>
        </p:txBody>
      </p:sp>
      <p:sp>
        <p:nvSpPr>
          <p:cNvPr id="8" name="body: 24 руководителя, 32 инженера,"/>
          <p:cNvSpPr txBox="1"/>
          <p:nvPr/>
        </p:nvSpPr>
        <p:spPr>
          <a:xfrm>
            <a:off x="8032008" y="3911555"/>
            <a:ext cx="3512004" cy="15976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14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 spc="0">
                <a:solidFill>
                  <a:srgbClr val="A0A0AD"/>
                </a:solidFill>
                <a:latin typeface="Onest"/>
                <a:ea typeface="Onest"/>
                <a:cs typeface="Onest"/>
              </a:rPr>
              <a:t>24 руководителя, 32 инженера,</a:t>
            </a:r>
          </a:p>
          <a:p>
            <a:pPr algn="l">
              <a:lnSpc>
                <a:spcPts val="2414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 spc="0">
                <a:solidFill>
                  <a:srgbClr val="A0A0AD"/>
                </a:solidFill>
                <a:latin typeface="Onest"/>
                <a:ea typeface="Onest"/>
                <a:cs typeface="Onest"/>
              </a:rPr>
              <a:t>21 проектировщик,</a:t>
            </a:r>
          </a:p>
          <a:p>
            <a:pPr algn="l">
              <a:lnSpc>
                <a:spcPts val="2414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 spc="0">
                <a:solidFill>
                  <a:srgbClr val="A0A0AD"/>
                </a:solidFill>
                <a:latin typeface="Onest"/>
                <a:ea typeface="Onest"/>
                <a:cs typeface="Onest"/>
              </a:rPr>
              <a:t>144 монтажника, 32 строителя</a:t>
            </a:r>
          </a:p>
          <a:p>
            <a:pPr algn="l">
              <a:lnSpc>
                <a:spcPts val="2414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 spc="0">
                <a:solidFill>
                  <a:srgbClr val="A0A0AD"/>
                </a:solidFill>
                <a:latin typeface="Onest"/>
                <a:ea typeface="Onest"/>
                <a:cs typeface="Onest"/>
              </a:rPr>
              <a:t>и 64 специалиста других</a:t>
            </a:r>
          </a:p>
          <a:p>
            <a:pPr algn="l">
              <a:lnSpc>
                <a:spcPts val="2414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 spc="0">
                <a:solidFill>
                  <a:srgbClr val="A0A0AD"/>
                </a:solidFill>
                <a:latin typeface="Onest"/>
                <a:ea typeface="Onest"/>
                <a:cs typeface="Onest"/>
              </a:rPr>
              <a:t>профессий.</a:t>
            </a:r>
          </a:p>
        </p:txBody>
      </p:sp>
      <p:sp>
        <p:nvSpPr>
          <p:cNvPr id="9" name="folio: ЭНЕРГО ГРУПП · 2025"/>
          <p:cNvSpPr txBox="1"/>
          <p:nvPr/>
        </p:nvSpPr>
        <p:spPr>
          <a:xfrm>
            <a:off x="648000" y="6234419"/>
            <a:ext cx="5760000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138">
                <a:solidFill>
                  <a:srgbClr val="A0A0AD"/>
                </a:solidFill>
                <a:latin typeface="Onest SemiBold"/>
                <a:ea typeface="Onest SemiBold"/>
                <a:cs typeface="Onest SemiBold"/>
              </a:rPr>
              <a:t>ЭНЕРГО ГРУПП · 2025</a:t>
            </a:r>
          </a:p>
        </p:txBody>
      </p:sp>
      <p:sp>
        <p:nvSpPr>
          <p:cNvPr id="10" name="folio: 04 / 13"/>
          <p:cNvSpPr txBox="1"/>
          <p:nvPr/>
        </p:nvSpPr>
        <p:spPr>
          <a:xfrm>
            <a:off x="10104012" y="6234419"/>
            <a:ext cx="1440000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138">
                <a:solidFill>
                  <a:srgbClr val="A0A0AD"/>
                </a:solidFill>
                <a:latin typeface="Onest SemiBold"/>
                <a:ea typeface="Onest SemiBold"/>
                <a:cs typeface="Onest SemiBold"/>
              </a:rPr>
              <a:t>04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round"/>
          <p:cNvSpPr/>
          <p:nvPr/>
        </p:nvSpPr>
        <p:spPr>
          <a:xfrm>
            <a:off x="0" y="0"/>
            <a:ext cx="12192012" cy="6858000"/>
          </a:xfrm>
          <a:prstGeom prst="rect">
            <a:avLst/>
          </a:prstGeom>
          <a:solidFill>
            <a:srgbClr val="F2F1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arc"/>
          <p:cNvSpPr/>
          <p:nvPr/>
        </p:nvSpPr>
        <p:spPr>
          <a:xfrm>
            <a:off x="5945237" y="1403759"/>
            <a:ext cx="6200476" cy="5437672"/>
          </a:xfrm>
          <a:custGeom>
            <a:avLst/>
            <a:gdLst/>
            <a:ahLst/>
            <a:cxnLst/>
            <a:rect l="0" t="0" r="r" b="b"/>
            <a:pathLst>
              <a:path w="6200476" h="5437672">
                <a:moveTo>
                  <a:pt x="0" y="5437672"/>
                </a:moveTo>
                <a:lnTo>
                  <a:pt x="7360" y="5383594"/>
                </a:lnTo>
                <a:lnTo>
                  <a:pt x="15191" y="5329583"/>
                </a:lnTo>
                <a:lnTo>
                  <a:pt x="23493" y="5275642"/>
                </a:lnTo>
                <a:lnTo>
                  <a:pt x="32266" y="5221775"/>
                </a:lnTo>
                <a:lnTo>
                  <a:pt x="41508" y="5167988"/>
                </a:lnTo>
                <a:lnTo>
                  <a:pt x="51220" y="5114283"/>
                </a:lnTo>
                <a:lnTo>
                  <a:pt x="61400" y="5060664"/>
                </a:lnTo>
                <a:lnTo>
                  <a:pt x="72047" y="5007137"/>
                </a:lnTo>
                <a:lnTo>
                  <a:pt x="83161" y="4953704"/>
                </a:lnTo>
                <a:lnTo>
                  <a:pt x="94741" y="4900371"/>
                </a:lnTo>
                <a:lnTo>
                  <a:pt x="106785" y="4847141"/>
                </a:lnTo>
                <a:lnTo>
                  <a:pt x="119294" y="4794017"/>
                </a:lnTo>
                <a:lnTo>
                  <a:pt x="132266" y="4741005"/>
                </a:lnTo>
                <a:lnTo>
                  <a:pt x="145700" y="4688108"/>
                </a:lnTo>
                <a:lnTo>
                  <a:pt x="159596" y="4635331"/>
                </a:lnTo>
                <a:lnTo>
                  <a:pt x="173951" y="4582676"/>
                </a:lnTo>
                <a:lnTo>
                  <a:pt x="188765" y="4530149"/>
                </a:lnTo>
                <a:lnTo>
                  <a:pt x="204037" y="4477754"/>
                </a:lnTo>
                <a:lnTo>
                  <a:pt x="219766" y="4425493"/>
                </a:lnTo>
                <a:lnTo>
                  <a:pt x="235950" y="4373372"/>
                </a:lnTo>
                <a:lnTo>
                  <a:pt x="252588" y="4321394"/>
                </a:lnTo>
                <a:lnTo>
                  <a:pt x="269679" y="4269563"/>
                </a:lnTo>
                <a:lnTo>
                  <a:pt x="287222" y="4217883"/>
                </a:lnTo>
                <a:lnTo>
                  <a:pt x="305215" y="4166359"/>
                </a:lnTo>
                <a:lnTo>
                  <a:pt x="323657" y="4114993"/>
                </a:lnTo>
                <a:lnTo>
                  <a:pt x="342547" y="4063790"/>
                </a:lnTo>
                <a:lnTo>
                  <a:pt x="361883" y="4012754"/>
                </a:lnTo>
                <a:lnTo>
                  <a:pt x="381663" y="3961889"/>
                </a:lnTo>
                <a:lnTo>
                  <a:pt x="401887" y="3911198"/>
                </a:lnTo>
                <a:lnTo>
                  <a:pt x="422552" y="3860685"/>
                </a:lnTo>
                <a:lnTo>
                  <a:pt x="443657" y="3810355"/>
                </a:lnTo>
                <a:lnTo>
                  <a:pt x="465201" y="3760211"/>
                </a:lnTo>
                <a:lnTo>
                  <a:pt x="487181" y="3710257"/>
                </a:lnTo>
                <a:lnTo>
                  <a:pt x="509597" y="3660497"/>
                </a:lnTo>
                <a:lnTo>
                  <a:pt x="532446" y="3610934"/>
                </a:lnTo>
                <a:lnTo>
                  <a:pt x="555726" y="3561572"/>
                </a:lnTo>
                <a:lnTo>
                  <a:pt x="579436" y="3512416"/>
                </a:lnTo>
                <a:lnTo>
                  <a:pt x="603575" y="3463468"/>
                </a:lnTo>
                <a:lnTo>
                  <a:pt x="628139" y="3414732"/>
                </a:lnTo>
                <a:lnTo>
                  <a:pt x="653128" y="3366213"/>
                </a:lnTo>
                <a:lnTo>
                  <a:pt x="678540" y="3317914"/>
                </a:lnTo>
                <a:lnTo>
                  <a:pt x="704372" y="3269839"/>
                </a:lnTo>
                <a:lnTo>
                  <a:pt x="730622" y="3221990"/>
                </a:lnTo>
                <a:lnTo>
                  <a:pt x="757289" y="3174373"/>
                </a:lnTo>
                <a:lnTo>
                  <a:pt x="784371" y="3126990"/>
                </a:lnTo>
                <a:lnTo>
                  <a:pt x="811865" y="3079845"/>
                </a:lnTo>
                <a:lnTo>
                  <a:pt x="839769" y="3032942"/>
                </a:lnTo>
                <a:lnTo>
                  <a:pt x="868082" y="2986284"/>
                </a:lnTo>
                <a:lnTo>
                  <a:pt x="896800" y="2939875"/>
                </a:lnTo>
                <a:lnTo>
                  <a:pt x="925923" y="2893719"/>
                </a:lnTo>
                <a:lnTo>
                  <a:pt x="955447" y="2847818"/>
                </a:lnTo>
                <a:lnTo>
                  <a:pt x="985371" y="2802177"/>
                </a:lnTo>
                <a:lnTo>
                  <a:pt x="1015692" y="2756799"/>
                </a:lnTo>
                <a:lnTo>
                  <a:pt x="1046408" y="2711687"/>
                </a:lnTo>
                <a:lnTo>
                  <a:pt x="1077516" y="2666844"/>
                </a:lnTo>
                <a:lnTo>
                  <a:pt x="1109014" y="2622275"/>
                </a:lnTo>
                <a:lnTo>
                  <a:pt x="1140900" y="2577983"/>
                </a:lnTo>
                <a:lnTo>
                  <a:pt x="1173172" y="2533970"/>
                </a:lnTo>
                <a:lnTo>
                  <a:pt x="1205826" y="2490241"/>
                </a:lnTo>
                <a:lnTo>
                  <a:pt x="1238860" y="2446798"/>
                </a:lnTo>
                <a:lnTo>
                  <a:pt x="1272273" y="2403645"/>
                </a:lnTo>
                <a:lnTo>
                  <a:pt x="1306061" y="2360786"/>
                </a:lnTo>
                <a:lnTo>
                  <a:pt x="1340221" y="2318223"/>
                </a:lnTo>
                <a:lnTo>
                  <a:pt x="1374752" y="2275959"/>
                </a:lnTo>
                <a:lnTo>
                  <a:pt x="1409650" y="2233999"/>
                </a:lnTo>
                <a:lnTo>
                  <a:pt x="1444913" y="2192345"/>
                </a:lnTo>
                <a:lnTo>
                  <a:pt x="1480538" y="2151000"/>
                </a:lnTo>
                <a:lnTo>
                  <a:pt x="1516522" y="2109967"/>
                </a:lnTo>
                <a:lnTo>
                  <a:pt x="1552863" y="2069251"/>
                </a:lnTo>
                <a:lnTo>
                  <a:pt x="1589559" y="2028852"/>
                </a:lnTo>
                <a:lnTo>
                  <a:pt x="1626605" y="1988776"/>
                </a:lnTo>
                <a:lnTo>
                  <a:pt x="1663999" y="1949024"/>
                </a:lnTo>
                <a:lnTo>
                  <a:pt x="1701740" y="1909600"/>
                </a:lnTo>
                <a:lnTo>
                  <a:pt x="1739822" y="1870507"/>
                </a:lnTo>
                <a:lnTo>
                  <a:pt x="1778245" y="1831748"/>
                </a:lnTo>
                <a:lnTo>
                  <a:pt x="1817004" y="1793326"/>
                </a:lnTo>
                <a:lnTo>
                  <a:pt x="1856097" y="1755243"/>
                </a:lnTo>
                <a:lnTo>
                  <a:pt x="1895521" y="1717503"/>
                </a:lnTo>
                <a:lnTo>
                  <a:pt x="1935272" y="1680109"/>
                </a:lnTo>
                <a:lnTo>
                  <a:pt x="1975349" y="1643062"/>
                </a:lnTo>
                <a:lnTo>
                  <a:pt x="2015747" y="1606367"/>
                </a:lnTo>
                <a:lnTo>
                  <a:pt x="2056464" y="1570026"/>
                </a:lnTo>
                <a:lnTo>
                  <a:pt x="2097496" y="1534041"/>
                </a:lnTo>
                <a:lnTo>
                  <a:pt x="2138841" y="1498416"/>
                </a:lnTo>
                <a:lnTo>
                  <a:pt x="2180495" y="1463153"/>
                </a:lnTo>
                <a:lnTo>
                  <a:pt x="2222456" y="1428255"/>
                </a:lnTo>
                <a:lnTo>
                  <a:pt x="2264719" y="1393725"/>
                </a:lnTo>
                <a:lnTo>
                  <a:pt x="2307282" y="1359564"/>
                </a:lnTo>
                <a:lnTo>
                  <a:pt x="2350142" y="1325776"/>
                </a:lnTo>
                <a:lnTo>
                  <a:pt x="2393294" y="1292364"/>
                </a:lnTo>
                <a:lnTo>
                  <a:pt x="2436737" y="1259329"/>
                </a:lnTo>
                <a:lnTo>
                  <a:pt x="2480466" y="1226675"/>
                </a:lnTo>
                <a:lnTo>
                  <a:pt x="2524479" y="1194404"/>
                </a:lnTo>
                <a:lnTo>
                  <a:pt x="2568772" y="1162518"/>
                </a:lnTo>
                <a:lnTo>
                  <a:pt x="2613341" y="1131019"/>
                </a:lnTo>
                <a:lnTo>
                  <a:pt x="2658183" y="1099911"/>
                </a:lnTo>
                <a:lnTo>
                  <a:pt x="2703295" y="1069196"/>
                </a:lnTo>
                <a:lnTo>
                  <a:pt x="2748673" y="1038875"/>
                </a:lnTo>
                <a:lnTo>
                  <a:pt x="2794315" y="1008951"/>
                </a:lnTo>
                <a:lnTo>
                  <a:pt x="2840215" y="979427"/>
                </a:lnTo>
                <a:lnTo>
                  <a:pt x="2886372" y="950304"/>
                </a:lnTo>
                <a:lnTo>
                  <a:pt x="2932781" y="921585"/>
                </a:lnTo>
                <a:lnTo>
                  <a:pt x="2979438" y="893273"/>
                </a:lnTo>
                <a:lnTo>
                  <a:pt x="3026342" y="865368"/>
                </a:lnTo>
                <a:lnTo>
                  <a:pt x="3073486" y="837874"/>
                </a:lnTo>
                <a:lnTo>
                  <a:pt x="3120869" y="810793"/>
                </a:lnTo>
                <a:lnTo>
                  <a:pt x="3168487" y="784126"/>
                </a:lnTo>
                <a:lnTo>
                  <a:pt x="3216335" y="757875"/>
                </a:lnTo>
                <a:lnTo>
                  <a:pt x="3264411" y="732043"/>
                </a:lnTo>
                <a:lnTo>
                  <a:pt x="3312710" y="706632"/>
                </a:lnTo>
                <a:lnTo>
                  <a:pt x="3361229" y="681643"/>
                </a:lnTo>
                <a:lnTo>
                  <a:pt x="3409964" y="657078"/>
                </a:lnTo>
                <a:lnTo>
                  <a:pt x="3458912" y="632940"/>
                </a:lnTo>
                <a:lnTo>
                  <a:pt x="3508068" y="609230"/>
                </a:lnTo>
                <a:lnTo>
                  <a:pt x="3557430" y="585949"/>
                </a:lnTo>
                <a:lnTo>
                  <a:pt x="3606993" y="563100"/>
                </a:lnTo>
                <a:lnTo>
                  <a:pt x="3656753" y="540685"/>
                </a:lnTo>
                <a:lnTo>
                  <a:pt x="3706708" y="518705"/>
                </a:lnTo>
                <a:lnTo>
                  <a:pt x="3756852" y="497161"/>
                </a:lnTo>
                <a:lnTo>
                  <a:pt x="3807182" y="476056"/>
                </a:lnTo>
                <a:lnTo>
                  <a:pt x="3857694" y="455391"/>
                </a:lnTo>
                <a:lnTo>
                  <a:pt x="3908385" y="435167"/>
                </a:lnTo>
                <a:lnTo>
                  <a:pt x="3959250" y="415387"/>
                </a:lnTo>
                <a:lnTo>
                  <a:pt x="4010286" y="396051"/>
                </a:lnTo>
                <a:lnTo>
                  <a:pt x="4061489" y="377161"/>
                </a:lnTo>
                <a:lnTo>
                  <a:pt x="4112855" y="358719"/>
                </a:lnTo>
                <a:lnTo>
                  <a:pt x="4164380" y="340726"/>
                </a:lnTo>
                <a:lnTo>
                  <a:pt x="4216059" y="323183"/>
                </a:lnTo>
                <a:lnTo>
                  <a:pt x="4267890" y="306092"/>
                </a:lnTo>
                <a:lnTo>
                  <a:pt x="4319868" y="289453"/>
                </a:lnTo>
                <a:lnTo>
                  <a:pt x="4371989" y="273269"/>
                </a:lnTo>
                <a:lnTo>
                  <a:pt x="4424250" y="257541"/>
                </a:lnTo>
                <a:lnTo>
                  <a:pt x="4476646" y="242269"/>
                </a:lnTo>
                <a:lnTo>
                  <a:pt x="4529173" y="227454"/>
                </a:lnTo>
                <a:lnTo>
                  <a:pt x="4581827" y="213099"/>
                </a:lnTo>
                <a:lnTo>
                  <a:pt x="4634605" y="199204"/>
                </a:lnTo>
                <a:lnTo>
                  <a:pt x="4687502" y="185770"/>
                </a:lnTo>
                <a:lnTo>
                  <a:pt x="4740514" y="172798"/>
                </a:lnTo>
                <a:lnTo>
                  <a:pt x="4793637" y="160289"/>
                </a:lnTo>
                <a:lnTo>
                  <a:pt x="4846867" y="148244"/>
                </a:lnTo>
                <a:lnTo>
                  <a:pt x="4900201" y="136664"/>
                </a:lnTo>
                <a:lnTo>
                  <a:pt x="4953633" y="125550"/>
                </a:lnTo>
                <a:lnTo>
                  <a:pt x="5007161" y="114903"/>
                </a:lnTo>
                <a:lnTo>
                  <a:pt x="5060779" y="104723"/>
                </a:lnTo>
                <a:lnTo>
                  <a:pt x="5114484" y="95012"/>
                </a:lnTo>
                <a:lnTo>
                  <a:pt x="5168272" y="85770"/>
                </a:lnTo>
                <a:lnTo>
                  <a:pt x="5222138" y="76997"/>
                </a:lnTo>
                <a:lnTo>
                  <a:pt x="5276079" y="68695"/>
                </a:lnTo>
                <a:lnTo>
                  <a:pt x="5330090" y="60863"/>
                </a:lnTo>
                <a:lnTo>
                  <a:pt x="5384168" y="53504"/>
                </a:lnTo>
                <a:lnTo>
                  <a:pt x="5438308" y="46616"/>
                </a:lnTo>
                <a:lnTo>
                  <a:pt x="5492506" y="40201"/>
                </a:lnTo>
                <a:lnTo>
                  <a:pt x="5546757" y="34260"/>
                </a:lnTo>
                <a:lnTo>
                  <a:pt x="5601059" y="28792"/>
                </a:lnTo>
                <a:lnTo>
                  <a:pt x="5655406" y="23798"/>
                </a:lnTo>
                <a:lnTo>
                  <a:pt x="5709795" y="19279"/>
                </a:lnTo>
                <a:lnTo>
                  <a:pt x="5764221" y="15234"/>
                </a:lnTo>
                <a:lnTo>
                  <a:pt x="5818680" y="11665"/>
                </a:lnTo>
                <a:lnTo>
                  <a:pt x="5873168" y="8571"/>
                </a:lnTo>
                <a:lnTo>
                  <a:pt x="5927681" y="5952"/>
                </a:lnTo>
                <a:lnTo>
                  <a:pt x="5982215" y="3810"/>
                </a:lnTo>
                <a:lnTo>
                  <a:pt x="6036766" y="2143"/>
                </a:lnTo>
                <a:lnTo>
                  <a:pt x="6091329" y="953"/>
                </a:lnTo>
                <a:lnTo>
                  <a:pt x="6145901" y="238"/>
                </a:lnTo>
                <a:lnTo>
                  <a:pt x="6200476" y="0"/>
                </a:lnTo>
              </a:path>
            </a:pathLst>
          </a:custGeom>
          <a:noFill/>
          <a:ln w="15240">
            <a:solidFill>
              <a:srgbClr val="A9A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arc"/>
          <p:cNvSpPr/>
          <p:nvPr/>
        </p:nvSpPr>
        <p:spPr>
          <a:xfrm>
            <a:off x="10269572" y="1607013"/>
            <a:ext cx="129600" cy="129600"/>
          </a:xfrm>
          <a:prstGeom prst="ellipse">
            <a:avLst/>
          </a:prstGeom>
          <a:solidFill>
            <a:srgbClr val="E0872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ghost: 02"/>
          <p:cNvSpPr txBox="1"/>
          <p:nvPr/>
        </p:nvSpPr>
        <p:spPr>
          <a:xfrm>
            <a:off x="8520036" y="3570688"/>
            <a:ext cx="3239976" cy="39227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760"/>
              </a:lnSpc>
              <a:spcBef>
                <a:spcPts val="0"/>
              </a:spcBef>
              <a:spcAft>
                <a:spcPts val="0"/>
              </a:spcAft>
            </a:pPr>
            <a:r>
              <a:rPr sz="23760" b="0" i="0" spc="-950">
                <a:solidFill>
                  <a:srgbClr val="CFCFCE"/>
                </a:solidFill>
                <a:latin typeface="PT Serif"/>
                <a:ea typeface="PT Serif"/>
                <a:cs typeface="PT Serif"/>
              </a:rPr>
              <a:t>02</a:t>
            </a:r>
          </a:p>
        </p:txBody>
      </p:sp>
      <p:sp>
        <p:nvSpPr>
          <p:cNvPr id="6" name="title: Что мы строим"/>
          <p:cNvSpPr txBox="1"/>
          <p:nvPr/>
        </p:nvSpPr>
        <p:spPr>
          <a:xfrm>
            <a:off x="648000" y="2857096"/>
            <a:ext cx="6705607" cy="117716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130"/>
              </a:lnSpc>
              <a:spcBef>
                <a:spcPts val="0"/>
              </a:spcBef>
              <a:spcAft>
                <a:spcPts val="0"/>
              </a:spcAft>
            </a:pPr>
            <a:r>
              <a:rPr sz="7130" b="0" i="0" spc="-143">
                <a:solidFill>
                  <a:srgbClr val="1A1B26"/>
                </a:solidFill>
                <a:latin typeface="PT Serif"/>
                <a:ea typeface="PT Serif"/>
                <a:cs typeface="PT Serif"/>
              </a:rPr>
              <a:t>Что мы строим</a:t>
            </a:r>
          </a:p>
        </p:txBody>
      </p:sp>
      <p:sp>
        <p:nvSpPr>
          <p:cNvPr id="7" name="label: РАЗДЕЛ"/>
          <p:cNvSpPr txBox="1"/>
          <p:nvPr/>
        </p:nvSpPr>
        <p:spPr>
          <a:xfrm>
            <a:off x="648000" y="2168298"/>
            <a:ext cx="5400000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138">
                <a:solidFill>
                  <a:srgbClr val="6C6C70"/>
                </a:solidFill>
                <a:latin typeface="Onest SemiBold"/>
                <a:ea typeface="Onest SemiBold"/>
                <a:cs typeface="Onest SemiBold"/>
              </a:rPr>
              <a:t>РАЗДЕЛ</a:t>
            </a:r>
          </a:p>
        </p:txBody>
      </p:sp>
      <p:sp>
        <p:nvSpPr>
          <p:cNvPr id="8" name="folio: ЭНЕРГО ГРУПП · 2025"/>
          <p:cNvSpPr txBox="1"/>
          <p:nvPr/>
        </p:nvSpPr>
        <p:spPr>
          <a:xfrm>
            <a:off x="648000" y="6234419"/>
            <a:ext cx="5760000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138">
                <a:solidFill>
                  <a:srgbClr val="6C6C70"/>
                </a:solidFill>
                <a:latin typeface="Onest SemiBold"/>
                <a:ea typeface="Onest SemiBold"/>
                <a:cs typeface="Onest SemiBold"/>
              </a:rPr>
              <a:t>ЭНЕРГО ГРУПП · 2025</a:t>
            </a:r>
          </a:p>
        </p:txBody>
      </p:sp>
      <p:sp>
        <p:nvSpPr>
          <p:cNvPr id="9" name="folio: 05 / 13"/>
          <p:cNvSpPr txBox="1"/>
          <p:nvPr/>
        </p:nvSpPr>
        <p:spPr>
          <a:xfrm>
            <a:off x="10104012" y="6234419"/>
            <a:ext cx="1440000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138">
                <a:solidFill>
                  <a:srgbClr val="6C6C70"/>
                </a:solidFill>
                <a:latin typeface="Onest SemiBold"/>
                <a:ea typeface="Onest SemiBold"/>
                <a:cs typeface="Onest SemiBold"/>
              </a:rPr>
              <a:t>05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round"/>
          <p:cNvSpPr/>
          <p:nvPr/>
        </p:nvSpPr>
        <p:spPr>
          <a:xfrm>
            <a:off x="0" y="0"/>
            <a:ext cx="12192012" cy="6858000"/>
          </a:xfrm>
          <a:prstGeom prst="rect">
            <a:avLst/>
          </a:prstGeom>
          <a:solidFill>
            <a:srgbClr val="3031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arc"/>
          <p:cNvSpPr/>
          <p:nvPr/>
        </p:nvSpPr>
        <p:spPr>
          <a:xfrm>
            <a:off x="10775453" y="2346"/>
            <a:ext cx="1403571" cy="1428284"/>
          </a:xfrm>
          <a:custGeom>
            <a:avLst/>
            <a:gdLst/>
            <a:ahLst/>
            <a:cxnLst/>
            <a:rect l="0" t="0" r="r" b="b"/>
            <a:pathLst>
              <a:path w="1403571" h="1428284">
                <a:moveTo>
                  <a:pt x="1403571" y="1428284"/>
                </a:moveTo>
                <a:lnTo>
                  <a:pt x="1385084" y="1421828"/>
                </a:lnTo>
                <a:lnTo>
                  <a:pt x="1366653" y="1415211"/>
                </a:lnTo>
                <a:lnTo>
                  <a:pt x="1348281" y="1408433"/>
                </a:lnTo>
                <a:lnTo>
                  <a:pt x="1329969" y="1401495"/>
                </a:lnTo>
                <a:lnTo>
                  <a:pt x="1311719" y="1394398"/>
                </a:lnTo>
                <a:lnTo>
                  <a:pt x="1293531" y="1387142"/>
                </a:lnTo>
                <a:lnTo>
                  <a:pt x="1275406" y="1379727"/>
                </a:lnTo>
                <a:lnTo>
                  <a:pt x="1257348" y="1372154"/>
                </a:lnTo>
                <a:lnTo>
                  <a:pt x="1239356" y="1364424"/>
                </a:lnTo>
                <a:lnTo>
                  <a:pt x="1221432" y="1356538"/>
                </a:lnTo>
                <a:lnTo>
                  <a:pt x="1203578" y="1348495"/>
                </a:lnTo>
                <a:lnTo>
                  <a:pt x="1185794" y="1340297"/>
                </a:lnTo>
                <a:lnTo>
                  <a:pt x="1168083" y="1331943"/>
                </a:lnTo>
                <a:lnTo>
                  <a:pt x="1150445" y="1323436"/>
                </a:lnTo>
                <a:lnTo>
                  <a:pt x="1132883" y="1314775"/>
                </a:lnTo>
                <a:lnTo>
                  <a:pt x="1115396" y="1305961"/>
                </a:lnTo>
                <a:lnTo>
                  <a:pt x="1097987" y="1296995"/>
                </a:lnTo>
                <a:lnTo>
                  <a:pt x="1080657" y="1287877"/>
                </a:lnTo>
                <a:lnTo>
                  <a:pt x="1063408" y="1278609"/>
                </a:lnTo>
                <a:lnTo>
                  <a:pt x="1046239" y="1269190"/>
                </a:lnTo>
                <a:lnTo>
                  <a:pt x="1029154" y="1259622"/>
                </a:lnTo>
                <a:lnTo>
                  <a:pt x="1012153" y="1249905"/>
                </a:lnTo>
                <a:lnTo>
                  <a:pt x="995237" y="1240040"/>
                </a:lnTo>
                <a:lnTo>
                  <a:pt x="978408" y="1230027"/>
                </a:lnTo>
                <a:lnTo>
                  <a:pt x="961667" y="1219869"/>
                </a:lnTo>
                <a:lnTo>
                  <a:pt x="945015" y="1209564"/>
                </a:lnTo>
                <a:lnTo>
                  <a:pt x="928454" y="1199115"/>
                </a:lnTo>
                <a:lnTo>
                  <a:pt x="911985" y="1188521"/>
                </a:lnTo>
                <a:lnTo>
                  <a:pt x="895608" y="1177785"/>
                </a:lnTo>
                <a:lnTo>
                  <a:pt x="879326" y="1166905"/>
                </a:lnTo>
                <a:lnTo>
                  <a:pt x="863140" y="1155884"/>
                </a:lnTo>
                <a:lnTo>
                  <a:pt x="847050" y="1144723"/>
                </a:lnTo>
                <a:lnTo>
                  <a:pt x="831059" y="1133421"/>
                </a:lnTo>
                <a:lnTo>
                  <a:pt x="815166" y="1121980"/>
                </a:lnTo>
                <a:lnTo>
                  <a:pt x="799374" y="1110401"/>
                </a:lnTo>
                <a:lnTo>
                  <a:pt x="783684" y="1098684"/>
                </a:lnTo>
                <a:lnTo>
                  <a:pt x="768096" y="1086831"/>
                </a:lnTo>
                <a:lnTo>
                  <a:pt x="752613" y="1074843"/>
                </a:lnTo>
                <a:lnTo>
                  <a:pt x="737235" y="1062720"/>
                </a:lnTo>
                <a:lnTo>
                  <a:pt x="721963" y="1050463"/>
                </a:lnTo>
                <a:lnTo>
                  <a:pt x="706799" y="1038073"/>
                </a:lnTo>
                <a:lnTo>
                  <a:pt x="691743" y="1025551"/>
                </a:lnTo>
                <a:lnTo>
                  <a:pt x="676797" y="1012899"/>
                </a:lnTo>
                <a:lnTo>
                  <a:pt x="661963" y="1000116"/>
                </a:lnTo>
                <a:lnTo>
                  <a:pt x="647240" y="987205"/>
                </a:lnTo>
                <a:lnTo>
                  <a:pt x="632630" y="974165"/>
                </a:lnTo>
                <a:lnTo>
                  <a:pt x="618135" y="960999"/>
                </a:lnTo>
                <a:lnTo>
                  <a:pt x="603756" y="947707"/>
                </a:lnTo>
                <a:lnTo>
                  <a:pt x="589493" y="934289"/>
                </a:lnTo>
                <a:lnTo>
                  <a:pt x="575347" y="920748"/>
                </a:lnTo>
                <a:lnTo>
                  <a:pt x="561320" y="907084"/>
                </a:lnTo>
                <a:lnTo>
                  <a:pt x="547413" y="893298"/>
                </a:lnTo>
                <a:lnTo>
                  <a:pt x="533627" y="879391"/>
                </a:lnTo>
                <a:lnTo>
                  <a:pt x="519963" y="865364"/>
                </a:lnTo>
                <a:lnTo>
                  <a:pt x="506422" y="851218"/>
                </a:lnTo>
                <a:lnTo>
                  <a:pt x="493004" y="836955"/>
                </a:lnTo>
                <a:lnTo>
                  <a:pt x="479712" y="822576"/>
                </a:lnTo>
                <a:lnTo>
                  <a:pt x="466546" y="808081"/>
                </a:lnTo>
                <a:lnTo>
                  <a:pt x="453506" y="793471"/>
                </a:lnTo>
                <a:lnTo>
                  <a:pt x="440595" y="778748"/>
                </a:lnTo>
                <a:lnTo>
                  <a:pt x="427812" y="763914"/>
                </a:lnTo>
                <a:lnTo>
                  <a:pt x="415160" y="748968"/>
                </a:lnTo>
                <a:lnTo>
                  <a:pt x="402638" y="733912"/>
                </a:lnTo>
                <a:lnTo>
                  <a:pt x="390248" y="718748"/>
                </a:lnTo>
                <a:lnTo>
                  <a:pt x="377991" y="703476"/>
                </a:lnTo>
                <a:lnTo>
                  <a:pt x="365868" y="688098"/>
                </a:lnTo>
                <a:lnTo>
                  <a:pt x="353880" y="672615"/>
                </a:lnTo>
                <a:lnTo>
                  <a:pt x="342027" y="657027"/>
                </a:lnTo>
                <a:lnTo>
                  <a:pt x="330310" y="641337"/>
                </a:lnTo>
                <a:lnTo>
                  <a:pt x="318731" y="625545"/>
                </a:lnTo>
                <a:lnTo>
                  <a:pt x="307290" y="609652"/>
                </a:lnTo>
                <a:lnTo>
                  <a:pt x="295988" y="593661"/>
                </a:lnTo>
                <a:lnTo>
                  <a:pt x="284827" y="577571"/>
                </a:lnTo>
                <a:lnTo>
                  <a:pt x="273806" y="561385"/>
                </a:lnTo>
                <a:lnTo>
                  <a:pt x="262926" y="545103"/>
                </a:lnTo>
                <a:lnTo>
                  <a:pt x="252190" y="528726"/>
                </a:lnTo>
                <a:lnTo>
                  <a:pt x="241596" y="512257"/>
                </a:lnTo>
                <a:lnTo>
                  <a:pt x="231147" y="495696"/>
                </a:lnTo>
                <a:lnTo>
                  <a:pt x="220842" y="479044"/>
                </a:lnTo>
                <a:lnTo>
                  <a:pt x="210684" y="462303"/>
                </a:lnTo>
                <a:lnTo>
                  <a:pt x="200671" y="445474"/>
                </a:lnTo>
                <a:lnTo>
                  <a:pt x="190806" y="428558"/>
                </a:lnTo>
                <a:lnTo>
                  <a:pt x="181089" y="411557"/>
                </a:lnTo>
                <a:lnTo>
                  <a:pt x="171521" y="394472"/>
                </a:lnTo>
                <a:lnTo>
                  <a:pt x="162102" y="377303"/>
                </a:lnTo>
                <a:lnTo>
                  <a:pt x="152834" y="360054"/>
                </a:lnTo>
                <a:lnTo>
                  <a:pt x="143716" y="342724"/>
                </a:lnTo>
                <a:lnTo>
                  <a:pt x="134750" y="325315"/>
                </a:lnTo>
                <a:lnTo>
                  <a:pt x="125936" y="307828"/>
                </a:lnTo>
                <a:lnTo>
                  <a:pt x="117275" y="290266"/>
                </a:lnTo>
                <a:lnTo>
                  <a:pt x="108768" y="272628"/>
                </a:lnTo>
                <a:lnTo>
                  <a:pt x="100414" y="254917"/>
                </a:lnTo>
                <a:lnTo>
                  <a:pt x="92216" y="237133"/>
                </a:lnTo>
                <a:lnTo>
                  <a:pt x="84173" y="219279"/>
                </a:lnTo>
                <a:lnTo>
                  <a:pt x="76287" y="201355"/>
                </a:lnTo>
                <a:lnTo>
                  <a:pt x="68557" y="183363"/>
                </a:lnTo>
                <a:lnTo>
                  <a:pt x="60984" y="165305"/>
                </a:lnTo>
                <a:lnTo>
                  <a:pt x="53569" y="147180"/>
                </a:lnTo>
                <a:lnTo>
                  <a:pt x="46313" y="128992"/>
                </a:lnTo>
                <a:lnTo>
                  <a:pt x="39216" y="110742"/>
                </a:lnTo>
                <a:lnTo>
                  <a:pt x="32278" y="92430"/>
                </a:lnTo>
                <a:lnTo>
                  <a:pt x="25500" y="74058"/>
                </a:lnTo>
                <a:lnTo>
                  <a:pt x="18883" y="55627"/>
                </a:lnTo>
                <a:lnTo>
                  <a:pt x="12427" y="37140"/>
                </a:lnTo>
                <a:lnTo>
                  <a:pt x="6132" y="18597"/>
                </a:lnTo>
                <a:lnTo>
                  <a:pt x="0" y="0"/>
                </a:lnTo>
              </a:path>
            </a:pathLst>
          </a:custGeom>
          <a:noFill/>
          <a:ln w="11430">
            <a:solidFill>
              <a:srgbClr val="5B5B6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label: НАПРАВЛЕНИЯ РАБОТ"/>
          <p:cNvSpPr txBox="1"/>
          <p:nvPr/>
        </p:nvSpPr>
        <p:spPr>
          <a:xfrm>
            <a:off x="648000" y="571618"/>
            <a:ext cx="5400000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138">
                <a:solidFill>
                  <a:srgbClr val="9E9FA8"/>
                </a:solidFill>
                <a:latin typeface="Onest SemiBold"/>
                <a:ea typeface="Onest SemiBold"/>
                <a:cs typeface="Onest SemiBold"/>
              </a:rPr>
              <a:t>НАПРАВЛЕНИЯ РАБОТ</a:t>
            </a:r>
          </a:p>
        </p:txBody>
      </p:sp>
      <p:sp>
        <p:nvSpPr>
          <p:cNvPr id="5" name="title: Полный цикл"/>
          <p:cNvSpPr txBox="1"/>
          <p:nvPr/>
        </p:nvSpPr>
        <p:spPr>
          <a:xfrm>
            <a:off x="648000" y="1270315"/>
            <a:ext cx="5358006" cy="21307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084"/>
              </a:lnSpc>
              <a:spcBef>
                <a:spcPts val="0"/>
              </a:spcBef>
              <a:spcAft>
                <a:spcPts val="0"/>
              </a:spcAft>
            </a:pPr>
            <a:r>
              <a:rPr sz="5084" b="0" i="0" spc="-102">
                <a:solidFill>
                  <a:srgbClr val="F2F1EE"/>
                </a:solidFill>
                <a:latin typeface="PT Serif"/>
                <a:ea typeface="PT Serif"/>
                <a:cs typeface="PT Serif"/>
              </a:rPr>
              <a:t>Полный цикл</a:t>
            </a:r>
          </a:p>
          <a:p>
            <a:pPr algn="l">
              <a:lnSpc>
                <a:spcPts val="5084"/>
              </a:lnSpc>
              <a:spcBef>
                <a:spcPts val="0"/>
              </a:spcBef>
              <a:spcAft>
                <a:spcPts val="0"/>
              </a:spcAft>
            </a:pPr>
            <a:r>
              <a:rPr sz="5084" b="0" i="0" spc="-102">
                <a:solidFill>
                  <a:srgbClr val="F2F1EE"/>
                </a:solidFill>
                <a:latin typeface="PT Serif"/>
                <a:ea typeface="PT Serif"/>
                <a:cs typeface="PT Serif"/>
              </a:rPr>
              <a:t>в одной</a:t>
            </a:r>
          </a:p>
          <a:p>
            <a:pPr algn="l">
              <a:lnSpc>
                <a:spcPts val="5084"/>
              </a:lnSpc>
              <a:spcBef>
                <a:spcPts val="0"/>
              </a:spcBef>
              <a:spcAft>
                <a:spcPts val="0"/>
              </a:spcAft>
            </a:pPr>
            <a:r>
              <a:rPr sz="5084" b="0" i="0" spc="-102">
                <a:solidFill>
                  <a:srgbClr val="F2F1EE"/>
                </a:solidFill>
                <a:latin typeface="PT Serif"/>
                <a:ea typeface="PT Serif"/>
                <a:cs typeface="PT Serif"/>
              </a:rPr>
              <a:t>компании</a:t>
            </a:r>
          </a:p>
        </p:txBody>
      </p:sp>
      <p:cxnSp>
        <p:nvCxnSpPr>
          <p:cNvPr id="6" name="motif"/>
          <p:cNvCxnSpPr/>
          <p:nvPr/>
        </p:nvCxnSpPr>
        <p:spPr>
          <a:xfrm>
            <a:off x="648000" y="3838846"/>
            <a:ext cx="4435005" cy="0"/>
          </a:xfrm>
          <a:prstGeom prst="line">
            <a:avLst/>
          </a:prstGeom>
          <a:ln w="19050">
            <a:solidFill>
              <a:srgbClr val="E0872F"/>
            </a:solidFill>
          </a:ln>
          <a:effectLst/>
        </p:spPr>
      </p:cxnSp>
      <p:sp>
        <p:nvSpPr>
          <p:cNvPr id="7" name="index: 01"/>
          <p:cNvSpPr txBox="1"/>
          <p:nvPr/>
        </p:nvSpPr>
        <p:spPr>
          <a:xfrm>
            <a:off x="648000" y="3960084"/>
            <a:ext cx="504000" cy="238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50">
                <a:solidFill>
                  <a:srgbClr val="E0872F"/>
                </a:solidFill>
                <a:latin typeface="Onest SemiBold"/>
                <a:ea typeface="Onest SemiBold"/>
                <a:cs typeface="Onest SemiBold"/>
              </a:rPr>
              <a:t>01</a:t>
            </a:r>
          </a:p>
        </p:txBody>
      </p:sp>
      <p:sp>
        <p:nvSpPr>
          <p:cNvPr id="8" name="item: Воздушные"/>
          <p:cNvSpPr txBox="1"/>
          <p:nvPr/>
        </p:nvSpPr>
        <p:spPr>
          <a:xfrm>
            <a:off x="1224000" y="3991460"/>
            <a:ext cx="3859005" cy="9522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306"/>
              </a:lnSpc>
              <a:spcBef>
                <a:spcPts val="0"/>
              </a:spcBef>
              <a:spcAft>
                <a:spcPts val="0"/>
              </a:spcAft>
            </a:pPr>
            <a:r>
              <a:rPr sz="2952" b="0" i="0" spc="-30">
                <a:solidFill>
                  <a:srgbClr val="F2F1EE"/>
                </a:solidFill>
                <a:latin typeface="PT Serif"/>
                <a:ea typeface="PT Serif"/>
                <a:cs typeface="PT Serif"/>
              </a:rPr>
              <a:t>Воздушные</a:t>
            </a:r>
          </a:p>
          <a:p>
            <a:pPr algn="l">
              <a:lnSpc>
                <a:spcPts val="3306"/>
              </a:lnSpc>
              <a:spcBef>
                <a:spcPts val="0"/>
              </a:spcBef>
              <a:spcAft>
                <a:spcPts val="0"/>
              </a:spcAft>
            </a:pPr>
            <a:r>
              <a:rPr sz="2952" b="0" i="0" spc="-30">
                <a:solidFill>
                  <a:srgbClr val="F2F1EE"/>
                </a:solidFill>
                <a:latin typeface="PT Serif"/>
                <a:ea typeface="PT Serif"/>
                <a:cs typeface="PT Serif"/>
              </a:rPr>
              <a:t>и кабельные линии</a:t>
            </a:r>
          </a:p>
        </p:txBody>
      </p:sp>
      <p:sp>
        <p:nvSpPr>
          <p:cNvPr id="9" name="body: Строительство ВЛ и КЛ, наружно"/>
          <p:cNvSpPr txBox="1"/>
          <p:nvPr/>
        </p:nvSpPr>
        <p:spPr>
          <a:xfrm>
            <a:off x="1224000" y="4917511"/>
            <a:ext cx="3859005" cy="9845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14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 spc="0">
                <a:solidFill>
                  <a:srgbClr val="9E9FA8"/>
                </a:solidFill>
                <a:latin typeface="Onest"/>
                <a:ea typeface="Onest"/>
                <a:cs typeface="Onest"/>
              </a:rPr>
              <a:t>Строительство ВЛ и КЛ, наружное</a:t>
            </a:r>
          </a:p>
          <a:p>
            <a:pPr algn="l">
              <a:lnSpc>
                <a:spcPts val="2414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 spc="0">
                <a:solidFill>
                  <a:srgbClr val="9E9FA8"/>
                </a:solidFill>
                <a:latin typeface="Onest"/>
                <a:ea typeface="Onest"/>
                <a:cs typeface="Onest"/>
              </a:rPr>
              <a:t>электроосвещение и архитектурное</a:t>
            </a:r>
          </a:p>
          <a:p>
            <a:pPr algn="l">
              <a:lnSpc>
                <a:spcPts val="2414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 spc="0">
                <a:solidFill>
                  <a:srgbClr val="9E9FA8"/>
                </a:solidFill>
                <a:latin typeface="Onest"/>
                <a:ea typeface="Onest"/>
                <a:cs typeface="Onest"/>
              </a:rPr>
              <a:t>освещение.</a:t>
            </a:r>
          </a:p>
        </p:txBody>
      </p:sp>
      <p:cxnSp>
        <p:nvCxnSpPr>
          <p:cNvPr id="10" name="motif"/>
          <p:cNvCxnSpPr/>
          <p:nvPr/>
        </p:nvCxnSpPr>
        <p:spPr>
          <a:xfrm>
            <a:off x="7109007" y="1188000"/>
            <a:ext cx="4435005" cy="0"/>
          </a:xfrm>
          <a:prstGeom prst="line">
            <a:avLst/>
          </a:prstGeom>
          <a:ln w="6350">
            <a:solidFill>
              <a:srgbClr val="606173"/>
            </a:solidFill>
          </a:ln>
          <a:effectLst/>
        </p:spPr>
      </p:cxnSp>
      <p:sp>
        <p:nvSpPr>
          <p:cNvPr id="11" name="index: 02"/>
          <p:cNvSpPr txBox="1"/>
          <p:nvPr/>
        </p:nvSpPr>
        <p:spPr>
          <a:xfrm>
            <a:off x="7109007" y="1309238"/>
            <a:ext cx="504000" cy="238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50">
                <a:solidFill>
                  <a:srgbClr val="9E9FA8"/>
                </a:solidFill>
                <a:latin typeface="Onest SemiBold"/>
                <a:ea typeface="Onest SemiBold"/>
                <a:cs typeface="Onest SemiBold"/>
              </a:rPr>
              <a:t>02</a:t>
            </a:r>
          </a:p>
        </p:txBody>
      </p:sp>
      <p:sp>
        <p:nvSpPr>
          <p:cNvPr id="12" name="item: Подстанции"/>
          <p:cNvSpPr txBox="1"/>
          <p:nvPr/>
        </p:nvSpPr>
        <p:spPr>
          <a:xfrm>
            <a:off x="7685007" y="1329732"/>
            <a:ext cx="3859005" cy="4025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</a:pPr>
            <a:r>
              <a:rPr sz="2232" b="0" i="0" spc="-22">
                <a:solidFill>
                  <a:srgbClr val="F2F1EE"/>
                </a:solidFill>
                <a:latin typeface="PT Serif"/>
                <a:ea typeface="PT Serif"/>
                <a:cs typeface="PT Serif"/>
              </a:rPr>
              <a:t>Подстанции</a:t>
            </a:r>
          </a:p>
        </p:txBody>
      </p:sp>
      <p:sp>
        <p:nvSpPr>
          <p:cNvPr id="13" name="body: Распределительные пункты"/>
          <p:cNvSpPr txBox="1"/>
          <p:nvPr/>
        </p:nvSpPr>
        <p:spPr>
          <a:xfrm>
            <a:off x="7685007" y="1728790"/>
            <a:ext cx="3859005" cy="63804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spc="0">
                <a:solidFill>
                  <a:srgbClr val="9E9FA8"/>
                </a:solidFill>
                <a:latin typeface="Onest"/>
                <a:ea typeface="Onest"/>
                <a:cs typeface="Onest"/>
              </a:rPr>
              <a:t>Распределительные пункты</a:t>
            </a:r>
          </a:p>
          <a:p>
            <a:pPr algn="l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spc="0">
                <a:solidFill>
                  <a:srgbClr val="9E9FA8"/>
                </a:solidFill>
                <a:latin typeface="Onest"/>
                <a:ea typeface="Onest"/>
                <a:cs typeface="Onest"/>
              </a:rPr>
              <a:t>и трансформаторные подстанции.</a:t>
            </a:r>
          </a:p>
        </p:txBody>
      </p:sp>
      <p:cxnSp>
        <p:nvCxnSpPr>
          <p:cNvPr id="14" name="motif"/>
          <p:cNvCxnSpPr/>
          <p:nvPr/>
        </p:nvCxnSpPr>
        <p:spPr>
          <a:xfrm>
            <a:off x="7109007" y="2543214"/>
            <a:ext cx="4435005" cy="0"/>
          </a:xfrm>
          <a:prstGeom prst="line">
            <a:avLst/>
          </a:prstGeom>
          <a:ln w="6350">
            <a:solidFill>
              <a:srgbClr val="606173"/>
            </a:solidFill>
          </a:ln>
          <a:effectLst/>
        </p:spPr>
      </p:cxnSp>
      <p:sp>
        <p:nvSpPr>
          <p:cNvPr id="15" name="index: 03"/>
          <p:cNvSpPr txBox="1"/>
          <p:nvPr/>
        </p:nvSpPr>
        <p:spPr>
          <a:xfrm>
            <a:off x="7109007" y="2664451"/>
            <a:ext cx="504000" cy="238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50">
                <a:solidFill>
                  <a:srgbClr val="9E9FA8"/>
                </a:solidFill>
                <a:latin typeface="Onest SemiBold"/>
                <a:ea typeface="Onest SemiBold"/>
                <a:cs typeface="Onest SemiBold"/>
              </a:rPr>
              <a:t>03</a:t>
            </a:r>
          </a:p>
        </p:txBody>
      </p:sp>
      <p:sp>
        <p:nvSpPr>
          <p:cNvPr id="16" name="item: ГНБ и ГНП"/>
          <p:cNvSpPr txBox="1"/>
          <p:nvPr/>
        </p:nvSpPr>
        <p:spPr>
          <a:xfrm>
            <a:off x="7685007" y="2684946"/>
            <a:ext cx="3859005" cy="4025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</a:pPr>
            <a:r>
              <a:rPr sz="2232" b="0" i="0" spc="-22">
                <a:solidFill>
                  <a:srgbClr val="F2F1EE"/>
                </a:solidFill>
                <a:latin typeface="PT Serif"/>
                <a:ea typeface="PT Serif"/>
                <a:cs typeface="PT Serif"/>
              </a:rPr>
              <a:t>ГНБ и ГНП</a:t>
            </a:r>
          </a:p>
        </p:txBody>
      </p:sp>
      <p:sp>
        <p:nvSpPr>
          <p:cNvPr id="17" name="body: Бестраншейная прокладка"/>
          <p:cNvSpPr txBox="1"/>
          <p:nvPr/>
        </p:nvSpPr>
        <p:spPr>
          <a:xfrm>
            <a:off x="7685007" y="3084004"/>
            <a:ext cx="3859005" cy="63804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spc="0">
                <a:solidFill>
                  <a:srgbClr val="9E9FA8"/>
                </a:solidFill>
                <a:latin typeface="Onest"/>
                <a:ea typeface="Onest"/>
                <a:cs typeface="Onest"/>
              </a:rPr>
              <a:t>Бестраншейная прокладка</a:t>
            </a:r>
          </a:p>
          <a:p>
            <a:pPr algn="l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spc="0">
                <a:solidFill>
                  <a:srgbClr val="9E9FA8"/>
                </a:solidFill>
                <a:latin typeface="Onest"/>
                <a:ea typeface="Onest"/>
                <a:cs typeface="Onest"/>
              </a:rPr>
              <a:t>коммуникаций.</a:t>
            </a:r>
          </a:p>
        </p:txBody>
      </p:sp>
      <p:cxnSp>
        <p:nvCxnSpPr>
          <p:cNvPr id="18" name="motif"/>
          <p:cNvCxnSpPr/>
          <p:nvPr/>
        </p:nvCxnSpPr>
        <p:spPr>
          <a:xfrm>
            <a:off x="7109007" y="3898428"/>
            <a:ext cx="4435005" cy="0"/>
          </a:xfrm>
          <a:prstGeom prst="line">
            <a:avLst/>
          </a:prstGeom>
          <a:ln w="6350">
            <a:solidFill>
              <a:srgbClr val="606173"/>
            </a:solidFill>
          </a:ln>
          <a:effectLst/>
        </p:spPr>
      </p:cxnSp>
      <p:sp>
        <p:nvSpPr>
          <p:cNvPr id="19" name="index: 04"/>
          <p:cNvSpPr txBox="1"/>
          <p:nvPr/>
        </p:nvSpPr>
        <p:spPr>
          <a:xfrm>
            <a:off x="7109007" y="4019665"/>
            <a:ext cx="504000" cy="238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50">
                <a:solidFill>
                  <a:srgbClr val="9E9FA8"/>
                </a:solidFill>
                <a:latin typeface="Onest SemiBold"/>
                <a:ea typeface="Onest SemiBold"/>
                <a:cs typeface="Onest SemiBold"/>
              </a:rPr>
              <a:t>04</a:t>
            </a:r>
          </a:p>
        </p:txBody>
      </p:sp>
      <p:sp>
        <p:nvSpPr>
          <p:cNvPr id="20" name="item: Наладка и сервис"/>
          <p:cNvSpPr txBox="1"/>
          <p:nvPr/>
        </p:nvSpPr>
        <p:spPr>
          <a:xfrm>
            <a:off x="7685007" y="4040160"/>
            <a:ext cx="3859005" cy="4025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99"/>
              </a:lnSpc>
              <a:spcBef>
                <a:spcPts val="0"/>
              </a:spcBef>
              <a:spcAft>
                <a:spcPts val="0"/>
              </a:spcAft>
            </a:pPr>
            <a:r>
              <a:rPr sz="2232" b="0" i="0" spc="-22">
                <a:solidFill>
                  <a:srgbClr val="F2F1EE"/>
                </a:solidFill>
                <a:latin typeface="PT Serif"/>
                <a:ea typeface="PT Serif"/>
                <a:cs typeface="PT Serif"/>
              </a:rPr>
              <a:t>Наладка и сервис</a:t>
            </a:r>
          </a:p>
        </p:txBody>
      </p:sp>
      <p:sp>
        <p:nvSpPr>
          <p:cNvPr id="21" name="body: Пусконаладочные работы,"/>
          <p:cNvSpPr txBox="1"/>
          <p:nvPr/>
        </p:nvSpPr>
        <p:spPr>
          <a:xfrm>
            <a:off x="7685007" y="4439217"/>
            <a:ext cx="3859005" cy="9265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spc="0">
                <a:solidFill>
                  <a:srgbClr val="9E9FA8"/>
                </a:solidFill>
                <a:latin typeface="Onest"/>
                <a:ea typeface="Onest"/>
                <a:cs typeface="Onest"/>
              </a:rPr>
              <a:t>Пусконаладочные работы,</a:t>
            </a:r>
          </a:p>
          <a:p>
            <a:pPr algn="l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spc="0">
                <a:solidFill>
                  <a:srgbClr val="9E9FA8"/>
                </a:solidFill>
                <a:latin typeface="Onest"/>
                <a:ea typeface="Onest"/>
                <a:cs typeface="Onest"/>
              </a:rPr>
              <a:t>электротехническая лаборатория,</a:t>
            </a:r>
          </a:p>
          <a:p>
            <a:pPr algn="l">
              <a:lnSpc>
                <a:spcPts val="2272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spc="0">
                <a:solidFill>
                  <a:srgbClr val="9E9FA8"/>
                </a:solidFill>
                <a:latin typeface="Onest"/>
                <a:ea typeface="Onest"/>
                <a:cs typeface="Onest"/>
              </a:rPr>
              <a:t>обслуживание.</a:t>
            </a:r>
          </a:p>
        </p:txBody>
      </p:sp>
      <p:sp>
        <p:nvSpPr>
          <p:cNvPr id="22" name="folio: ЭНЕРГО ГРУПП · 2025"/>
          <p:cNvSpPr txBox="1"/>
          <p:nvPr/>
        </p:nvSpPr>
        <p:spPr>
          <a:xfrm>
            <a:off x="648000" y="6234419"/>
            <a:ext cx="5760000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138">
                <a:solidFill>
                  <a:srgbClr val="9E9FA8"/>
                </a:solidFill>
                <a:latin typeface="Onest SemiBold"/>
                <a:ea typeface="Onest SemiBold"/>
                <a:cs typeface="Onest SemiBold"/>
              </a:rPr>
              <a:t>ЭНЕРГО ГРУПП · 2025</a:t>
            </a:r>
          </a:p>
        </p:txBody>
      </p:sp>
      <p:sp>
        <p:nvSpPr>
          <p:cNvPr id="23" name="folio: 06 / 13"/>
          <p:cNvSpPr txBox="1"/>
          <p:nvPr/>
        </p:nvSpPr>
        <p:spPr>
          <a:xfrm>
            <a:off x="10104012" y="6234419"/>
            <a:ext cx="1440000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138">
                <a:solidFill>
                  <a:srgbClr val="9E9FA8"/>
                </a:solidFill>
                <a:latin typeface="Onest SemiBold"/>
                <a:ea typeface="Onest SemiBold"/>
                <a:cs typeface="Onest SemiBold"/>
              </a:rPr>
              <a:t>06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round"/>
          <p:cNvSpPr/>
          <p:nvPr/>
        </p:nvSpPr>
        <p:spPr>
          <a:xfrm>
            <a:off x="0" y="0"/>
            <a:ext cx="12192012" cy="6858000"/>
          </a:xfrm>
          <a:prstGeom prst="rect">
            <a:avLst/>
          </a:prstGeom>
          <a:solidFill>
            <a:srgbClr val="21233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image" descr="ccb0567df245183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120645" y="0"/>
            <a:ext cx="7071367" cy="6858000"/>
          </a:xfrm>
          <a:prstGeom prst="rect">
            <a:avLst/>
          </a:prstGeom>
        </p:spPr>
      </p:pic>
      <p:sp>
        <p:nvSpPr>
          <p:cNvPr id="4" name="arc"/>
          <p:cNvSpPr/>
          <p:nvPr/>
        </p:nvSpPr>
        <p:spPr>
          <a:xfrm>
            <a:off x="11231372" y="10115"/>
            <a:ext cx="950957" cy="1123316"/>
          </a:xfrm>
          <a:custGeom>
            <a:avLst/>
            <a:gdLst/>
            <a:ahLst/>
            <a:cxnLst/>
            <a:rect l="0" t="0" r="r" b="b"/>
            <a:pathLst>
              <a:path w="950957" h="1123316">
                <a:moveTo>
                  <a:pt x="950957" y="1123316"/>
                </a:moveTo>
                <a:lnTo>
                  <a:pt x="935948" y="1115420"/>
                </a:lnTo>
                <a:lnTo>
                  <a:pt x="921008" y="1107392"/>
                </a:lnTo>
                <a:lnTo>
                  <a:pt x="906139" y="1099235"/>
                </a:lnTo>
                <a:lnTo>
                  <a:pt x="891342" y="1090948"/>
                </a:lnTo>
                <a:lnTo>
                  <a:pt x="876617" y="1082532"/>
                </a:lnTo>
                <a:lnTo>
                  <a:pt x="861966" y="1073988"/>
                </a:lnTo>
                <a:lnTo>
                  <a:pt x="847391" y="1065316"/>
                </a:lnTo>
                <a:lnTo>
                  <a:pt x="832892" y="1056518"/>
                </a:lnTo>
                <a:lnTo>
                  <a:pt x="818470" y="1047593"/>
                </a:lnTo>
                <a:lnTo>
                  <a:pt x="804126" y="1038543"/>
                </a:lnTo>
                <a:lnTo>
                  <a:pt x="789862" y="1029368"/>
                </a:lnTo>
                <a:lnTo>
                  <a:pt x="775679" y="1020069"/>
                </a:lnTo>
                <a:lnTo>
                  <a:pt x="761577" y="1010647"/>
                </a:lnTo>
                <a:lnTo>
                  <a:pt x="747558" y="1001102"/>
                </a:lnTo>
                <a:lnTo>
                  <a:pt x="733623" y="991435"/>
                </a:lnTo>
                <a:lnTo>
                  <a:pt x="719773" y="981646"/>
                </a:lnTo>
                <a:lnTo>
                  <a:pt x="706008" y="971737"/>
                </a:lnTo>
                <a:lnTo>
                  <a:pt x="692331" y="961709"/>
                </a:lnTo>
                <a:lnTo>
                  <a:pt x="678742" y="951561"/>
                </a:lnTo>
                <a:lnTo>
                  <a:pt x="665242" y="941295"/>
                </a:lnTo>
                <a:lnTo>
                  <a:pt x="651832" y="930912"/>
                </a:lnTo>
                <a:lnTo>
                  <a:pt x="638513" y="920412"/>
                </a:lnTo>
                <a:lnTo>
                  <a:pt x="625286" y="909797"/>
                </a:lnTo>
                <a:lnTo>
                  <a:pt x="612152" y="899066"/>
                </a:lnTo>
                <a:lnTo>
                  <a:pt x="599113" y="888221"/>
                </a:lnTo>
                <a:lnTo>
                  <a:pt x="586168" y="877263"/>
                </a:lnTo>
                <a:lnTo>
                  <a:pt x="573320" y="866192"/>
                </a:lnTo>
                <a:lnTo>
                  <a:pt x="560569" y="855010"/>
                </a:lnTo>
                <a:lnTo>
                  <a:pt x="547916" y="843716"/>
                </a:lnTo>
                <a:lnTo>
                  <a:pt x="535362" y="832313"/>
                </a:lnTo>
                <a:lnTo>
                  <a:pt x="522908" y="820801"/>
                </a:lnTo>
                <a:lnTo>
                  <a:pt x="510555" y="809180"/>
                </a:lnTo>
                <a:lnTo>
                  <a:pt x="498303" y="797452"/>
                </a:lnTo>
                <a:lnTo>
                  <a:pt x="486155" y="785617"/>
                </a:lnTo>
                <a:lnTo>
                  <a:pt x="474110" y="773677"/>
                </a:lnTo>
                <a:lnTo>
                  <a:pt x="462170" y="761633"/>
                </a:lnTo>
                <a:lnTo>
                  <a:pt x="450336" y="749484"/>
                </a:lnTo>
                <a:lnTo>
                  <a:pt x="438608" y="737233"/>
                </a:lnTo>
                <a:lnTo>
                  <a:pt x="426987" y="724880"/>
                </a:lnTo>
                <a:lnTo>
                  <a:pt x="415474" y="712426"/>
                </a:lnTo>
                <a:lnTo>
                  <a:pt x="404071" y="699872"/>
                </a:lnTo>
                <a:lnTo>
                  <a:pt x="392778" y="687219"/>
                </a:lnTo>
                <a:lnTo>
                  <a:pt x="381595" y="674467"/>
                </a:lnTo>
                <a:lnTo>
                  <a:pt x="370525" y="661619"/>
                </a:lnTo>
                <a:lnTo>
                  <a:pt x="359566" y="648675"/>
                </a:lnTo>
                <a:lnTo>
                  <a:pt x="348721" y="635635"/>
                </a:lnTo>
                <a:lnTo>
                  <a:pt x="337991" y="622502"/>
                </a:lnTo>
                <a:lnTo>
                  <a:pt x="327375" y="609275"/>
                </a:lnTo>
                <a:lnTo>
                  <a:pt x="316875" y="595956"/>
                </a:lnTo>
                <a:lnTo>
                  <a:pt x="306492" y="582546"/>
                </a:lnTo>
                <a:lnTo>
                  <a:pt x="296226" y="569046"/>
                </a:lnTo>
                <a:lnTo>
                  <a:pt x="286079" y="555456"/>
                </a:lnTo>
                <a:lnTo>
                  <a:pt x="276050" y="541779"/>
                </a:lnTo>
                <a:lnTo>
                  <a:pt x="266141" y="528015"/>
                </a:lnTo>
                <a:lnTo>
                  <a:pt x="256353" y="514165"/>
                </a:lnTo>
                <a:lnTo>
                  <a:pt x="246686" y="500229"/>
                </a:lnTo>
                <a:lnTo>
                  <a:pt x="237141" y="486211"/>
                </a:lnTo>
                <a:lnTo>
                  <a:pt x="227718" y="472109"/>
                </a:lnTo>
                <a:lnTo>
                  <a:pt x="218419" y="457925"/>
                </a:lnTo>
                <a:lnTo>
                  <a:pt x="209244" y="443661"/>
                </a:lnTo>
                <a:lnTo>
                  <a:pt x="200194" y="429318"/>
                </a:lnTo>
                <a:lnTo>
                  <a:pt x="191270" y="414896"/>
                </a:lnTo>
                <a:lnTo>
                  <a:pt x="182471" y="400397"/>
                </a:lnTo>
                <a:lnTo>
                  <a:pt x="173800" y="385821"/>
                </a:lnTo>
                <a:lnTo>
                  <a:pt x="165256" y="371171"/>
                </a:lnTo>
                <a:lnTo>
                  <a:pt x="156840" y="356446"/>
                </a:lnTo>
                <a:lnTo>
                  <a:pt x="148553" y="341649"/>
                </a:lnTo>
                <a:lnTo>
                  <a:pt x="140395" y="326779"/>
                </a:lnTo>
                <a:lnTo>
                  <a:pt x="132368" y="311839"/>
                </a:lnTo>
                <a:lnTo>
                  <a:pt x="124471" y="296830"/>
                </a:lnTo>
                <a:lnTo>
                  <a:pt x="116706" y="281752"/>
                </a:lnTo>
                <a:lnTo>
                  <a:pt x="109072" y="266607"/>
                </a:lnTo>
                <a:lnTo>
                  <a:pt x="101571" y="251397"/>
                </a:lnTo>
                <a:lnTo>
                  <a:pt x="94203" y="236121"/>
                </a:lnTo>
                <a:lnTo>
                  <a:pt x="86968" y="220781"/>
                </a:lnTo>
                <a:lnTo>
                  <a:pt x="79868" y="205379"/>
                </a:lnTo>
                <a:lnTo>
                  <a:pt x="72902" y="189916"/>
                </a:lnTo>
                <a:lnTo>
                  <a:pt x="66071" y="174392"/>
                </a:lnTo>
                <a:lnTo>
                  <a:pt x="59376" y="158809"/>
                </a:lnTo>
                <a:lnTo>
                  <a:pt x="52818" y="143169"/>
                </a:lnTo>
                <a:lnTo>
                  <a:pt x="46396" y="127472"/>
                </a:lnTo>
                <a:lnTo>
                  <a:pt x="40111" y="111719"/>
                </a:lnTo>
                <a:lnTo>
                  <a:pt x="33964" y="95912"/>
                </a:lnTo>
                <a:lnTo>
                  <a:pt x="27956" y="80052"/>
                </a:lnTo>
                <a:lnTo>
                  <a:pt x="22085" y="64141"/>
                </a:lnTo>
                <a:lnTo>
                  <a:pt x="16354" y="48178"/>
                </a:lnTo>
                <a:lnTo>
                  <a:pt x="10763" y="32167"/>
                </a:lnTo>
                <a:lnTo>
                  <a:pt x="5311" y="16107"/>
                </a:lnTo>
                <a:lnTo>
                  <a:pt x="0" y="0"/>
                </a:lnTo>
              </a:path>
            </a:pathLst>
          </a:custGeom>
          <a:noFill/>
          <a:ln w="11430">
            <a:solidFill>
              <a:srgbClr val="D3D2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label: ВОЗДУШНЫЕ ЛИНИИ"/>
          <p:cNvSpPr txBox="1"/>
          <p:nvPr/>
        </p:nvSpPr>
        <p:spPr>
          <a:xfrm>
            <a:off x="648000" y="571618"/>
            <a:ext cx="4040645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138">
                <a:solidFill>
                  <a:srgbClr val="A0A0AD"/>
                </a:solidFill>
                <a:latin typeface="Onest SemiBold"/>
                <a:ea typeface="Onest SemiBold"/>
                <a:cs typeface="Onest SemiBold"/>
              </a:rPr>
              <a:t>ВОЗДУШНЫЕ ЛИНИИ</a:t>
            </a:r>
          </a:p>
        </p:txBody>
      </p:sp>
      <p:sp>
        <p:nvSpPr>
          <p:cNvPr id="6" name="title: 25 800 км"/>
          <p:cNvSpPr txBox="1"/>
          <p:nvPr/>
        </p:nvSpPr>
        <p:spPr>
          <a:xfrm>
            <a:off x="648000" y="1227213"/>
            <a:ext cx="4061553" cy="15355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664"/>
              </a:lnSpc>
              <a:spcBef>
                <a:spcPts val="0"/>
              </a:spcBef>
              <a:spcAft>
                <a:spcPts val="0"/>
              </a:spcAft>
            </a:pPr>
            <a:r>
              <a:rPr sz="3664" b="0" i="0" spc="-73">
                <a:solidFill>
                  <a:srgbClr val="F2F1EE"/>
                </a:solidFill>
                <a:latin typeface="PT Serif"/>
                <a:ea typeface="PT Serif"/>
                <a:cs typeface="PT Serif"/>
              </a:rPr>
              <a:t>25 800 км</a:t>
            </a:r>
          </a:p>
          <a:p>
            <a:pPr algn="l">
              <a:lnSpc>
                <a:spcPts val="3664"/>
              </a:lnSpc>
              <a:spcBef>
                <a:spcPts val="0"/>
              </a:spcBef>
              <a:spcAft>
                <a:spcPts val="0"/>
              </a:spcAft>
            </a:pPr>
            <a:r>
              <a:rPr sz="3664" b="0" i="0" spc="-73">
                <a:solidFill>
                  <a:srgbClr val="F2F1EE"/>
                </a:solidFill>
                <a:latin typeface="PT Serif"/>
                <a:ea typeface="PT Serif"/>
                <a:cs typeface="PT Serif"/>
              </a:rPr>
              <a:t>проводов</a:t>
            </a:r>
          </a:p>
          <a:p>
            <a:pPr algn="l">
              <a:lnSpc>
                <a:spcPts val="3664"/>
              </a:lnSpc>
              <a:spcBef>
                <a:spcPts val="0"/>
              </a:spcBef>
              <a:spcAft>
                <a:spcPts val="0"/>
              </a:spcAft>
            </a:pPr>
            <a:r>
              <a:rPr sz="3664" b="0" i="0" spc="-73">
                <a:solidFill>
                  <a:srgbClr val="F2F1EE"/>
                </a:solidFill>
                <a:latin typeface="PT Serif"/>
                <a:ea typeface="PT Serif"/>
                <a:cs typeface="PT Serif"/>
              </a:rPr>
              <a:t>на воздушных ЛЭП</a:t>
            </a:r>
          </a:p>
        </p:txBody>
      </p:sp>
      <p:sp>
        <p:nvSpPr>
          <p:cNvPr id="7" name="body: Строим и реконструируем воздуш"/>
          <p:cNvSpPr txBox="1"/>
          <p:nvPr/>
        </p:nvSpPr>
        <p:spPr>
          <a:xfrm>
            <a:off x="648000" y="2969241"/>
            <a:ext cx="4040645" cy="9845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14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 spc="0">
                <a:solidFill>
                  <a:srgbClr val="F2F1EE"/>
                </a:solidFill>
                <a:latin typeface="Onest"/>
                <a:ea typeface="Onest"/>
                <a:cs typeface="Onest"/>
              </a:rPr>
              <a:t>Строим и реконструируем воздушные</a:t>
            </a:r>
          </a:p>
          <a:p>
            <a:pPr algn="l">
              <a:lnSpc>
                <a:spcPts val="2414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 spc="0">
                <a:solidFill>
                  <a:srgbClr val="F2F1EE"/>
                </a:solidFill>
                <a:latin typeface="Onest"/>
                <a:ea typeface="Onest"/>
                <a:cs typeface="Onest"/>
              </a:rPr>
              <a:t>линии электропередачи</a:t>
            </a:r>
          </a:p>
          <a:p>
            <a:pPr algn="l">
              <a:lnSpc>
                <a:spcPts val="2414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 spc="0">
                <a:solidFill>
                  <a:srgbClr val="F2F1EE"/>
                </a:solidFill>
                <a:latin typeface="Onest"/>
                <a:ea typeface="Onest"/>
                <a:cs typeface="Onest"/>
              </a:rPr>
              <a:t>собственными бригадами и техникой.</a:t>
            </a:r>
          </a:p>
        </p:txBody>
      </p:sp>
      <p:cxnSp>
        <p:nvCxnSpPr>
          <p:cNvPr id="8" name="motif"/>
          <p:cNvCxnSpPr/>
          <p:nvPr/>
        </p:nvCxnSpPr>
        <p:spPr>
          <a:xfrm>
            <a:off x="648000" y="4199644"/>
            <a:ext cx="4040645" cy="0"/>
          </a:xfrm>
          <a:prstGeom prst="line">
            <a:avLst/>
          </a:prstGeom>
          <a:ln w="6350">
            <a:solidFill>
              <a:srgbClr val="65677F"/>
            </a:solidFill>
          </a:ln>
          <a:effectLst/>
        </p:spPr>
      </p:cxnSp>
      <p:sp>
        <p:nvSpPr>
          <p:cNvPr id="9" name="point: 413 278 опор ЛЭП в построенных"/>
          <p:cNvSpPr txBox="1"/>
          <p:nvPr/>
        </p:nvSpPr>
        <p:spPr>
          <a:xfrm>
            <a:off x="648000" y="4267219"/>
            <a:ext cx="4040645" cy="3276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spc="0">
                <a:solidFill>
                  <a:srgbClr val="F2F1EE"/>
                </a:solidFill>
                <a:latin typeface="Onest SemiBold"/>
                <a:ea typeface="Onest SemiBold"/>
                <a:cs typeface="Onest SemiBold"/>
              </a:rPr>
              <a:t>413 278 опор ЛЭП в построенных линиях</a:t>
            </a:r>
          </a:p>
        </p:txBody>
      </p:sp>
      <p:cxnSp>
        <p:nvCxnSpPr>
          <p:cNvPr id="10" name="motif"/>
          <p:cNvCxnSpPr/>
          <p:nvPr/>
        </p:nvCxnSpPr>
        <p:spPr>
          <a:xfrm>
            <a:off x="648000" y="4703644"/>
            <a:ext cx="4040645" cy="0"/>
          </a:xfrm>
          <a:prstGeom prst="line">
            <a:avLst/>
          </a:prstGeom>
          <a:ln w="6350">
            <a:solidFill>
              <a:srgbClr val="65677F"/>
            </a:solidFill>
          </a:ln>
          <a:effectLst/>
        </p:spPr>
      </p:cxnSp>
      <p:sp>
        <p:nvSpPr>
          <p:cNvPr id="11" name="point: Собственная бурильно-крановая "/>
          <p:cNvSpPr txBox="1"/>
          <p:nvPr/>
        </p:nvSpPr>
        <p:spPr>
          <a:xfrm>
            <a:off x="648000" y="4771219"/>
            <a:ext cx="4040645" cy="3276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spc="0">
                <a:solidFill>
                  <a:srgbClr val="F2F1EE"/>
                </a:solidFill>
                <a:latin typeface="Onest SemiBold"/>
                <a:ea typeface="Onest SemiBold"/>
                <a:cs typeface="Onest SemiBold"/>
              </a:rPr>
              <a:t>Собственная бурильно-крановая техника</a:t>
            </a:r>
          </a:p>
        </p:txBody>
      </p:sp>
      <p:sp>
        <p:nvSpPr>
          <p:cNvPr id="12" name="folio: ЭНЕРГО ГРУПП · 2025"/>
          <p:cNvSpPr txBox="1"/>
          <p:nvPr/>
        </p:nvSpPr>
        <p:spPr>
          <a:xfrm>
            <a:off x="648000" y="6234419"/>
            <a:ext cx="2828452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138">
                <a:solidFill>
                  <a:srgbClr val="A0A0AD"/>
                </a:solidFill>
                <a:latin typeface="Onest SemiBold"/>
                <a:ea typeface="Onest SemiBold"/>
                <a:cs typeface="Onest SemiBold"/>
              </a:rPr>
              <a:t>ЭНЕРГО ГРУПП · 2025</a:t>
            </a:r>
          </a:p>
        </p:txBody>
      </p:sp>
      <p:sp>
        <p:nvSpPr>
          <p:cNvPr id="13" name="folio: 07 / 13"/>
          <p:cNvSpPr txBox="1"/>
          <p:nvPr/>
        </p:nvSpPr>
        <p:spPr>
          <a:xfrm>
            <a:off x="3608645" y="6234419"/>
            <a:ext cx="1080000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138">
                <a:solidFill>
                  <a:srgbClr val="A0A0AD"/>
                </a:solidFill>
                <a:latin typeface="Onest SemiBold"/>
                <a:ea typeface="Onest SemiBold"/>
                <a:cs typeface="Onest SemiBold"/>
              </a:rPr>
              <a:t>07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age" descr="b1b66a531876b389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12" cy="6858000"/>
          </a:xfrm>
          <a:prstGeom prst="rect">
            <a:avLst/>
          </a:prstGeom>
        </p:spPr>
      </p:pic>
      <p:sp>
        <p:nvSpPr>
          <p:cNvPr id="3" name="title: 1 224 подстанции, ТП"/>
          <p:cNvSpPr txBox="1"/>
          <p:nvPr/>
        </p:nvSpPr>
        <p:spPr>
          <a:xfrm>
            <a:off x="648000" y="4453861"/>
            <a:ext cx="7204008" cy="153936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270"/>
              </a:lnSpc>
              <a:spcBef>
                <a:spcPts val="0"/>
              </a:spcBef>
              <a:spcAft>
                <a:spcPts val="0"/>
              </a:spcAft>
            </a:pPr>
            <a:r>
              <a:rPr sz="5270" b="0" i="0" spc="-105">
                <a:solidFill>
                  <a:srgbClr val="F2F1EE"/>
                </a:solidFill>
                <a:latin typeface="PT Serif"/>
                <a:ea typeface="PT Serif"/>
                <a:cs typeface="PT Serif"/>
              </a:rPr>
              <a:t>1 224 подстанции, ТП</a:t>
            </a:r>
          </a:p>
          <a:p>
            <a:pPr algn="l">
              <a:lnSpc>
                <a:spcPts val="5270"/>
              </a:lnSpc>
              <a:spcBef>
                <a:spcPts val="0"/>
              </a:spcBef>
              <a:spcAft>
                <a:spcPts val="0"/>
              </a:spcAft>
            </a:pPr>
            <a:r>
              <a:rPr sz="5270" b="0" i="0" spc="-105">
                <a:solidFill>
                  <a:srgbClr val="F2F1EE"/>
                </a:solidFill>
                <a:latin typeface="PT Serif"/>
                <a:ea typeface="PT Serif"/>
                <a:cs typeface="PT Serif"/>
              </a:rPr>
              <a:t>и РП введены в работу</a:t>
            </a:r>
          </a:p>
        </p:txBody>
      </p:sp>
      <p:sp>
        <p:nvSpPr>
          <p:cNvPr id="4" name="body: Распределительные пункты"/>
          <p:cNvSpPr txBox="1"/>
          <p:nvPr/>
        </p:nvSpPr>
        <p:spPr>
          <a:xfrm>
            <a:off x="8032008" y="4601018"/>
            <a:ext cx="3512004" cy="12910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14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 spc="0">
                <a:solidFill>
                  <a:srgbClr val="F2F1EE"/>
                </a:solidFill>
                <a:latin typeface="Onest"/>
                <a:ea typeface="Onest"/>
                <a:cs typeface="Onest"/>
              </a:rPr>
              <a:t>Распределительные пункты</a:t>
            </a:r>
          </a:p>
          <a:p>
            <a:pPr algn="l">
              <a:lnSpc>
                <a:spcPts val="2414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 spc="0">
                <a:solidFill>
                  <a:srgbClr val="F2F1EE"/>
                </a:solidFill>
                <a:latin typeface="Onest"/>
                <a:ea typeface="Onest"/>
                <a:cs typeface="Onest"/>
              </a:rPr>
              <a:t>и трансформаторные</a:t>
            </a:r>
          </a:p>
          <a:p>
            <a:pPr algn="l">
              <a:lnSpc>
                <a:spcPts val="2414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 spc="0">
                <a:solidFill>
                  <a:srgbClr val="F2F1EE"/>
                </a:solidFill>
                <a:latin typeface="Onest"/>
                <a:ea typeface="Onest"/>
                <a:cs typeface="Onest"/>
              </a:rPr>
              <a:t>подстанции — от фундамента</a:t>
            </a:r>
          </a:p>
          <a:p>
            <a:pPr algn="l">
              <a:lnSpc>
                <a:spcPts val="2414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 spc="0">
                <a:solidFill>
                  <a:srgbClr val="F2F1EE"/>
                </a:solidFill>
                <a:latin typeface="Onest"/>
                <a:ea typeface="Onest"/>
                <a:cs typeface="Onest"/>
              </a:rPr>
              <a:t>до пусконаладки.</a:t>
            </a:r>
          </a:p>
        </p:txBody>
      </p:sp>
      <p:sp>
        <p:nvSpPr>
          <p:cNvPr id="5" name="label: ПОДСТАНЦИИ"/>
          <p:cNvSpPr txBox="1"/>
          <p:nvPr/>
        </p:nvSpPr>
        <p:spPr>
          <a:xfrm>
            <a:off x="648000" y="3857519"/>
            <a:ext cx="4320000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138">
                <a:solidFill>
                  <a:srgbClr val="F2F1EE"/>
                </a:solidFill>
                <a:latin typeface="Onest SemiBold"/>
                <a:ea typeface="Onest SemiBold"/>
                <a:cs typeface="Onest SemiBold"/>
              </a:rPr>
              <a:t>ПОДСТАНЦИИ</a:t>
            </a:r>
          </a:p>
        </p:txBody>
      </p:sp>
      <p:sp>
        <p:nvSpPr>
          <p:cNvPr id="6" name="folio: ЭНЕРГО ГРУПП · 2025"/>
          <p:cNvSpPr txBox="1"/>
          <p:nvPr/>
        </p:nvSpPr>
        <p:spPr>
          <a:xfrm>
            <a:off x="648000" y="6234419"/>
            <a:ext cx="5760000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138">
                <a:solidFill>
                  <a:srgbClr val="A0A0AD"/>
                </a:solidFill>
                <a:latin typeface="Onest SemiBold"/>
                <a:ea typeface="Onest SemiBold"/>
                <a:cs typeface="Onest SemiBold"/>
              </a:rPr>
              <a:t>ЭНЕРГО ГРУПП · 2025</a:t>
            </a:r>
          </a:p>
        </p:txBody>
      </p:sp>
      <p:sp>
        <p:nvSpPr>
          <p:cNvPr id="7" name="folio: 08 / 13"/>
          <p:cNvSpPr txBox="1"/>
          <p:nvPr/>
        </p:nvSpPr>
        <p:spPr>
          <a:xfrm>
            <a:off x="10104012" y="6234419"/>
            <a:ext cx="1440000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138">
                <a:solidFill>
                  <a:srgbClr val="A0A0AD"/>
                </a:solidFill>
                <a:latin typeface="Onest SemiBold"/>
                <a:ea typeface="Onest SemiBold"/>
                <a:cs typeface="Onest SemiBold"/>
              </a:rPr>
              <a:t>08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round"/>
          <p:cNvSpPr/>
          <p:nvPr/>
        </p:nvSpPr>
        <p:spPr>
          <a:xfrm>
            <a:off x="0" y="0"/>
            <a:ext cx="12192012" cy="6858000"/>
          </a:xfrm>
          <a:prstGeom prst="rect">
            <a:avLst/>
          </a:prstGeom>
          <a:solidFill>
            <a:srgbClr val="21233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arc"/>
          <p:cNvSpPr/>
          <p:nvPr/>
        </p:nvSpPr>
        <p:spPr>
          <a:xfrm>
            <a:off x="11606361" y="5065"/>
            <a:ext cx="584106" cy="714910"/>
          </a:xfrm>
          <a:custGeom>
            <a:avLst/>
            <a:gdLst/>
            <a:ahLst/>
            <a:cxnLst/>
            <a:rect l="0" t="0" r="r" b="b"/>
            <a:pathLst>
              <a:path w="584106" h="714910">
                <a:moveTo>
                  <a:pt x="584106" y="714910"/>
                </a:moveTo>
                <a:lnTo>
                  <a:pt x="574457" y="709395"/>
                </a:lnTo>
                <a:lnTo>
                  <a:pt x="564856" y="703796"/>
                </a:lnTo>
                <a:lnTo>
                  <a:pt x="555305" y="698114"/>
                </a:lnTo>
                <a:lnTo>
                  <a:pt x="545803" y="692348"/>
                </a:lnTo>
                <a:lnTo>
                  <a:pt x="536352" y="686500"/>
                </a:lnTo>
                <a:lnTo>
                  <a:pt x="526953" y="680569"/>
                </a:lnTo>
                <a:lnTo>
                  <a:pt x="517605" y="674556"/>
                </a:lnTo>
                <a:lnTo>
                  <a:pt x="508311" y="668463"/>
                </a:lnTo>
                <a:lnTo>
                  <a:pt x="499070" y="662288"/>
                </a:lnTo>
                <a:lnTo>
                  <a:pt x="489883" y="656033"/>
                </a:lnTo>
                <a:lnTo>
                  <a:pt x="480751" y="649698"/>
                </a:lnTo>
                <a:lnTo>
                  <a:pt x="471675" y="643284"/>
                </a:lnTo>
                <a:lnTo>
                  <a:pt x="462655" y="636790"/>
                </a:lnTo>
                <a:lnTo>
                  <a:pt x="453692" y="630218"/>
                </a:lnTo>
                <a:lnTo>
                  <a:pt x="444787" y="623569"/>
                </a:lnTo>
                <a:lnTo>
                  <a:pt x="435940" y="616841"/>
                </a:lnTo>
                <a:lnTo>
                  <a:pt x="427153" y="610037"/>
                </a:lnTo>
                <a:lnTo>
                  <a:pt x="418425" y="603156"/>
                </a:lnTo>
                <a:lnTo>
                  <a:pt x="409757" y="596200"/>
                </a:lnTo>
                <a:lnTo>
                  <a:pt x="401150" y="589168"/>
                </a:lnTo>
                <a:lnTo>
                  <a:pt x="392605" y="582061"/>
                </a:lnTo>
                <a:lnTo>
                  <a:pt x="384123" y="574880"/>
                </a:lnTo>
                <a:lnTo>
                  <a:pt x="375703" y="567625"/>
                </a:lnTo>
                <a:lnTo>
                  <a:pt x="367347" y="560297"/>
                </a:lnTo>
                <a:lnTo>
                  <a:pt x="359055" y="552897"/>
                </a:lnTo>
                <a:lnTo>
                  <a:pt x="350829" y="545424"/>
                </a:lnTo>
                <a:lnTo>
                  <a:pt x="342667" y="537880"/>
                </a:lnTo>
                <a:lnTo>
                  <a:pt x="334572" y="530265"/>
                </a:lnTo>
                <a:lnTo>
                  <a:pt x="326544" y="522579"/>
                </a:lnTo>
                <a:lnTo>
                  <a:pt x="318583" y="514824"/>
                </a:lnTo>
                <a:lnTo>
                  <a:pt x="310690" y="506999"/>
                </a:lnTo>
                <a:lnTo>
                  <a:pt x="302865" y="499106"/>
                </a:lnTo>
                <a:lnTo>
                  <a:pt x="295110" y="491145"/>
                </a:lnTo>
                <a:lnTo>
                  <a:pt x="287424" y="483117"/>
                </a:lnTo>
                <a:lnTo>
                  <a:pt x="279809" y="475022"/>
                </a:lnTo>
                <a:lnTo>
                  <a:pt x="272265" y="466861"/>
                </a:lnTo>
                <a:lnTo>
                  <a:pt x="264792" y="458634"/>
                </a:lnTo>
                <a:lnTo>
                  <a:pt x="257392" y="450342"/>
                </a:lnTo>
                <a:lnTo>
                  <a:pt x="250064" y="441986"/>
                </a:lnTo>
                <a:lnTo>
                  <a:pt x="242809" y="433566"/>
                </a:lnTo>
                <a:lnTo>
                  <a:pt x="235628" y="425084"/>
                </a:lnTo>
                <a:lnTo>
                  <a:pt x="228521" y="416539"/>
                </a:lnTo>
                <a:lnTo>
                  <a:pt x="221489" y="407932"/>
                </a:lnTo>
                <a:lnTo>
                  <a:pt x="214533" y="399264"/>
                </a:lnTo>
                <a:lnTo>
                  <a:pt x="207652" y="390536"/>
                </a:lnTo>
                <a:lnTo>
                  <a:pt x="200848" y="381749"/>
                </a:lnTo>
                <a:lnTo>
                  <a:pt x="194120" y="372902"/>
                </a:lnTo>
                <a:lnTo>
                  <a:pt x="187471" y="363997"/>
                </a:lnTo>
                <a:lnTo>
                  <a:pt x="180899" y="355034"/>
                </a:lnTo>
                <a:lnTo>
                  <a:pt x="174405" y="346014"/>
                </a:lnTo>
                <a:lnTo>
                  <a:pt x="167991" y="336938"/>
                </a:lnTo>
                <a:lnTo>
                  <a:pt x="161656" y="327806"/>
                </a:lnTo>
                <a:lnTo>
                  <a:pt x="155401" y="318619"/>
                </a:lnTo>
                <a:lnTo>
                  <a:pt x="149226" y="309378"/>
                </a:lnTo>
                <a:lnTo>
                  <a:pt x="143133" y="300084"/>
                </a:lnTo>
                <a:lnTo>
                  <a:pt x="137120" y="290736"/>
                </a:lnTo>
                <a:lnTo>
                  <a:pt x="131190" y="281337"/>
                </a:lnTo>
                <a:lnTo>
                  <a:pt x="125341" y="271886"/>
                </a:lnTo>
                <a:lnTo>
                  <a:pt x="119575" y="262384"/>
                </a:lnTo>
                <a:lnTo>
                  <a:pt x="113893" y="252833"/>
                </a:lnTo>
                <a:lnTo>
                  <a:pt x="108294" y="243232"/>
                </a:lnTo>
                <a:lnTo>
                  <a:pt x="102779" y="233583"/>
                </a:lnTo>
                <a:lnTo>
                  <a:pt x="97348" y="223886"/>
                </a:lnTo>
                <a:lnTo>
                  <a:pt x="92003" y="214142"/>
                </a:lnTo>
                <a:lnTo>
                  <a:pt x="86742" y="204352"/>
                </a:lnTo>
                <a:lnTo>
                  <a:pt x="81567" y="194516"/>
                </a:lnTo>
                <a:lnTo>
                  <a:pt x="76479" y="184635"/>
                </a:lnTo>
                <a:lnTo>
                  <a:pt x="71476" y="174711"/>
                </a:lnTo>
                <a:lnTo>
                  <a:pt x="66560" y="164743"/>
                </a:lnTo>
                <a:lnTo>
                  <a:pt x="61732" y="154733"/>
                </a:lnTo>
                <a:lnTo>
                  <a:pt x="56991" y="144680"/>
                </a:lnTo>
                <a:lnTo>
                  <a:pt x="52338" y="134587"/>
                </a:lnTo>
                <a:lnTo>
                  <a:pt x="47773" y="124454"/>
                </a:lnTo>
                <a:lnTo>
                  <a:pt x="43297" y="114281"/>
                </a:lnTo>
                <a:lnTo>
                  <a:pt x="38910" y="104070"/>
                </a:lnTo>
                <a:lnTo>
                  <a:pt x="34612" y="93820"/>
                </a:lnTo>
                <a:lnTo>
                  <a:pt x="30404" y="83534"/>
                </a:lnTo>
                <a:lnTo>
                  <a:pt x="26285" y="73211"/>
                </a:lnTo>
                <a:lnTo>
                  <a:pt x="22257" y="62852"/>
                </a:lnTo>
                <a:lnTo>
                  <a:pt x="18320" y="52459"/>
                </a:lnTo>
                <a:lnTo>
                  <a:pt x="14473" y="42032"/>
                </a:lnTo>
                <a:lnTo>
                  <a:pt x="10717" y="31572"/>
                </a:lnTo>
                <a:lnTo>
                  <a:pt x="7053" y="21079"/>
                </a:lnTo>
                <a:lnTo>
                  <a:pt x="3481" y="10555"/>
                </a:lnTo>
                <a:lnTo>
                  <a:pt x="0" y="0"/>
                </a:lnTo>
              </a:path>
            </a:pathLst>
          </a:custGeom>
          <a:noFill/>
          <a:ln w="11430">
            <a:solidFill>
              <a:srgbClr val="4F506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label: ДИНАМИКА РОСТА"/>
          <p:cNvSpPr txBox="1"/>
          <p:nvPr/>
        </p:nvSpPr>
        <p:spPr>
          <a:xfrm>
            <a:off x="648000" y="571618"/>
            <a:ext cx="5400000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138">
                <a:solidFill>
                  <a:srgbClr val="A0A0AD"/>
                </a:solidFill>
                <a:latin typeface="Onest SemiBold"/>
                <a:ea typeface="Onest SemiBold"/>
                <a:cs typeface="Onest SemiBold"/>
              </a:rPr>
              <a:t>ДИНАМИКА РОСТА</a:t>
            </a:r>
          </a:p>
        </p:txBody>
      </p:sp>
      <p:sp>
        <p:nvSpPr>
          <p:cNvPr id="5" name="title: Объём работ"/>
          <p:cNvSpPr txBox="1"/>
          <p:nvPr/>
        </p:nvSpPr>
        <p:spPr>
          <a:xfrm>
            <a:off x="648000" y="1247125"/>
            <a:ext cx="3512004" cy="23591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</a:pPr>
            <a:r>
              <a:rPr sz="4320" b="0" i="0" spc="-86">
                <a:solidFill>
                  <a:srgbClr val="F2F1EE"/>
                </a:solidFill>
                <a:latin typeface="PT Serif"/>
                <a:ea typeface="PT Serif"/>
                <a:cs typeface="PT Serif"/>
              </a:rPr>
              <a:t>Объём работ</a:t>
            </a:r>
          </a:p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</a:pPr>
            <a:r>
              <a:rPr sz="4320" b="0" i="0" spc="-86">
                <a:solidFill>
                  <a:srgbClr val="F2F1EE"/>
                </a:solidFill>
                <a:latin typeface="PT Serif"/>
                <a:ea typeface="PT Serif"/>
                <a:cs typeface="PT Serif"/>
              </a:rPr>
              <a:t>в контрактах</a:t>
            </a:r>
          </a:p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</a:pPr>
            <a:r>
              <a:rPr sz="4320" b="0" i="0" spc="-86">
                <a:solidFill>
                  <a:srgbClr val="F2F1EE"/>
                </a:solidFill>
                <a:latin typeface="PT Serif"/>
                <a:ea typeface="PT Serif"/>
                <a:cs typeface="PT Serif"/>
              </a:rPr>
              <a:t>вырос</a:t>
            </a:r>
          </a:p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</a:pPr>
            <a:r>
              <a:rPr sz="4320" b="0" i="0" spc="-86">
                <a:solidFill>
                  <a:srgbClr val="F2F1EE"/>
                </a:solidFill>
                <a:latin typeface="PT Serif"/>
                <a:ea typeface="PT Serif"/>
                <a:cs typeface="PT Serif"/>
              </a:rPr>
              <a:t>в 3,2 раза</a:t>
            </a:r>
          </a:p>
        </p:txBody>
      </p:sp>
      <p:sp>
        <p:nvSpPr>
          <p:cNvPr id="6" name="body: С 2019 по 2025 год портфель"/>
          <p:cNvSpPr txBox="1"/>
          <p:nvPr/>
        </p:nvSpPr>
        <p:spPr>
          <a:xfrm>
            <a:off x="648000" y="3722893"/>
            <a:ext cx="3512004" cy="67792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14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 spc="0">
                <a:solidFill>
                  <a:srgbClr val="A0A0AD"/>
                </a:solidFill>
                <a:latin typeface="Onest"/>
                <a:ea typeface="Onest"/>
                <a:cs typeface="Onest"/>
              </a:rPr>
              <a:t>С 2019 по 2025 год портфель</a:t>
            </a:r>
          </a:p>
          <a:p>
            <a:pPr algn="l">
              <a:lnSpc>
                <a:spcPts val="2414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 spc="0">
                <a:solidFill>
                  <a:srgbClr val="A0A0AD"/>
                </a:solidFill>
                <a:latin typeface="Onest"/>
                <a:ea typeface="Onest"/>
                <a:cs typeface="Onest"/>
              </a:rPr>
              <a:t>контрактов рос каждый год.</a:t>
            </a:r>
          </a:p>
        </p:txBody>
      </p:sp>
      <p:sp>
        <p:nvSpPr>
          <p:cNvPr id="7" name="bar"/>
          <p:cNvSpPr/>
          <p:nvPr/>
        </p:nvSpPr>
        <p:spPr>
          <a:xfrm>
            <a:off x="5263005" y="4395375"/>
            <a:ext cx="773858" cy="1310625"/>
          </a:xfrm>
          <a:prstGeom prst="rect">
            <a:avLst/>
          </a:prstGeom>
          <a:solidFill>
            <a:srgbClr val="4244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bar-value: &gt;1 500"/>
          <p:cNvSpPr txBox="1"/>
          <p:nvPr/>
        </p:nvSpPr>
        <p:spPr>
          <a:xfrm>
            <a:off x="5155005" y="4142883"/>
            <a:ext cx="989858" cy="1981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-12">
                <a:solidFill>
                  <a:srgbClr val="A0A0AD"/>
                </a:solidFill>
                <a:latin typeface="Onest SemiBold"/>
                <a:ea typeface="Onest SemiBold"/>
                <a:cs typeface="Onest SemiBold"/>
              </a:rPr>
              <a:t>&gt;1 500</a:t>
            </a:r>
          </a:p>
        </p:txBody>
      </p:sp>
      <p:sp>
        <p:nvSpPr>
          <p:cNvPr id="9" name="axis: 2019"/>
          <p:cNvSpPr txBox="1"/>
          <p:nvPr/>
        </p:nvSpPr>
        <p:spPr>
          <a:xfrm>
            <a:off x="5191005" y="5839908"/>
            <a:ext cx="917858" cy="1981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>
                <a:solidFill>
                  <a:srgbClr val="A0A0AD"/>
                </a:solidFill>
                <a:latin typeface="Onest"/>
                <a:ea typeface="Onest"/>
                <a:cs typeface="Onest"/>
              </a:rPr>
              <a:t>2019</a:t>
            </a:r>
          </a:p>
        </p:txBody>
      </p:sp>
      <p:sp>
        <p:nvSpPr>
          <p:cNvPr id="10" name="bar"/>
          <p:cNvSpPr/>
          <p:nvPr/>
        </p:nvSpPr>
        <p:spPr>
          <a:xfrm>
            <a:off x="6180863" y="4220625"/>
            <a:ext cx="773858" cy="1485375"/>
          </a:xfrm>
          <a:prstGeom prst="rect">
            <a:avLst/>
          </a:prstGeom>
          <a:solidFill>
            <a:srgbClr val="4244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bar-value: &gt;1 700"/>
          <p:cNvSpPr txBox="1"/>
          <p:nvPr/>
        </p:nvSpPr>
        <p:spPr>
          <a:xfrm>
            <a:off x="6072863" y="3968133"/>
            <a:ext cx="989858" cy="1981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-12">
                <a:solidFill>
                  <a:srgbClr val="A0A0AD"/>
                </a:solidFill>
                <a:latin typeface="Onest SemiBold"/>
                <a:ea typeface="Onest SemiBold"/>
                <a:cs typeface="Onest SemiBold"/>
              </a:rPr>
              <a:t>&gt;1 700</a:t>
            </a:r>
          </a:p>
        </p:txBody>
      </p:sp>
      <p:sp>
        <p:nvSpPr>
          <p:cNvPr id="12" name="axis: 2020"/>
          <p:cNvSpPr txBox="1"/>
          <p:nvPr/>
        </p:nvSpPr>
        <p:spPr>
          <a:xfrm>
            <a:off x="6108863" y="5839908"/>
            <a:ext cx="917858" cy="1981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>
                <a:solidFill>
                  <a:srgbClr val="A0A0AD"/>
                </a:solidFill>
                <a:latin typeface="Onest"/>
                <a:ea typeface="Onest"/>
                <a:cs typeface="Onest"/>
              </a:rPr>
              <a:t>2020</a:t>
            </a:r>
          </a:p>
        </p:txBody>
      </p:sp>
      <p:sp>
        <p:nvSpPr>
          <p:cNvPr id="13" name="bar"/>
          <p:cNvSpPr/>
          <p:nvPr/>
        </p:nvSpPr>
        <p:spPr>
          <a:xfrm>
            <a:off x="7098721" y="4089563"/>
            <a:ext cx="773858" cy="1616437"/>
          </a:xfrm>
          <a:prstGeom prst="rect">
            <a:avLst/>
          </a:prstGeom>
          <a:solidFill>
            <a:srgbClr val="4244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bar-value: &gt;1 850"/>
          <p:cNvSpPr txBox="1"/>
          <p:nvPr/>
        </p:nvSpPr>
        <p:spPr>
          <a:xfrm>
            <a:off x="6990721" y="3837071"/>
            <a:ext cx="989858" cy="1981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-12">
                <a:solidFill>
                  <a:srgbClr val="A0A0AD"/>
                </a:solidFill>
                <a:latin typeface="Onest SemiBold"/>
                <a:ea typeface="Onest SemiBold"/>
                <a:cs typeface="Onest SemiBold"/>
              </a:rPr>
              <a:t>&gt;1 850</a:t>
            </a:r>
          </a:p>
        </p:txBody>
      </p:sp>
      <p:sp>
        <p:nvSpPr>
          <p:cNvPr id="15" name="axis: 2021"/>
          <p:cNvSpPr txBox="1"/>
          <p:nvPr/>
        </p:nvSpPr>
        <p:spPr>
          <a:xfrm>
            <a:off x="7026721" y="5839908"/>
            <a:ext cx="917858" cy="1981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>
                <a:solidFill>
                  <a:srgbClr val="A0A0AD"/>
                </a:solidFill>
                <a:latin typeface="Onest"/>
                <a:ea typeface="Onest"/>
                <a:cs typeface="Onest"/>
              </a:rPr>
              <a:t>2021</a:t>
            </a:r>
          </a:p>
        </p:txBody>
      </p:sp>
      <p:sp>
        <p:nvSpPr>
          <p:cNvPr id="16" name="bar"/>
          <p:cNvSpPr/>
          <p:nvPr/>
        </p:nvSpPr>
        <p:spPr>
          <a:xfrm>
            <a:off x="8016579" y="3958500"/>
            <a:ext cx="773858" cy="1747500"/>
          </a:xfrm>
          <a:prstGeom prst="rect">
            <a:avLst/>
          </a:prstGeom>
          <a:solidFill>
            <a:srgbClr val="4244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bar-value: &gt;2 000"/>
          <p:cNvSpPr txBox="1"/>
          <p:nvPr/>
        </p:nvSpPr>
        <p:spPr>
          <a:xfrm>
            <a:off x="7908579" y="3706008"/>
            <a:ext cx="989858" cy="1981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-12">
                <a:solidFill>
                  <a:srgbClr val="A0A0AD"/>
                </a:solidFill>
                <a:latin typeface="Onest SemiBold"/>
                <a:ea typeface="Onest SemiBold"/>
                <a:cs typeface="Onest SemiBold"/>
              </a:rPr>
              <a:t>&gt;2 000</a:t>
            </a:r>
          </a:p>
        </p:txBody>
      </p:sp>
      <p:sp>
        <p:nvSpPr>
          <p:cNvPr id="18" name="axis: 2022"/>
          <p:cNvSpPr txBox="1"/>
          <p:nvPr/>
        </p:nvSpPr>
        <p:spPr>
          <a:xfrm>
            <a:off x="7944579" y="5839908"/>
            <a:ext cx="917858" cy="1981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>
                <a:solidFill>
                  <a:srgbClr val="A0A0AD"/>
                </a:solidFill>
                <a:latin typeface="Onest"/>
                <a:ea typeface="Onest"/>
                <a:cs typeface="Onest"/>
              </a:rPr>
              <a:t>2022</a:t>
            </a:r>
          </a:p>
        </p:txBody>
      </p:sp>
      <p:sp>
        <p:nvSpPr>
          <p:cNvPr id="19" name="bar"/>
          <p:cNvSpPr/>
          <p:nvPr/>
        </p:nvSpPr>
        <p:spPr>
          <a:xfrm>
            <a:off x="8934438" y="2647875"/>
            <a:ext cx="773858" cy="3058125"/>
          </a:xfrm>
          <a:prstGeom prst="rect">
            <a:avLst/>
          </a:prstGeom>
          <a:solidFill>
            <a:srgbClr val="4244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bar-value: &gt;3 500"/>
          <p:cNvSpPr txBox="1"/>
          <p:nvPr/>
        </p:nvSpPr>
        <p:spPr>
          <a:xfrm>
            <a:off x="8826438" y="2395383"/>
            <a:ext cx="989858" cy="1981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-12">
                <a:solidFill>
                  <a:srgbClr val="A0A0AD"/>
                </a:solidFill>
                <a:latin typeface="Onest SemiBold"/>
                <a:ea typeface="Onest SemiBold"/>
                <a:cs typeface="Onest SemiBold"/>
              </a:rPr>
              <a:t>&gt;3 500</a:t>
            </a:r>
          </a:p>
        </p:txBody>
      </p:sp>
      <p:sp>
        <p:nvSpPr>
          <p:cNvPr id="21" name="axis: 2023"/>
          <p:cNvSpPr txBox="1"/>
          <p:nvPr/>
        </p:nvSpPr>
        <p:spPr>
          <a:xfrm>
            <a:off x="8862438" y="5839908"/>
            <a:ext cx="917858" cy="1981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>
                <a:solidFill>
                  <a:srgbClr val="A0A0AD"/>
                </a:solidFill>
                <a:latin typeface="Onest"/>
                <a:ea typeface="Onest"/>
                <a:cs typeface="Onest"/>
              </a:rPr>
              <a:t>2023</a:t>
            </a:r>
          </a:p>
        </p:txBody>
      </p:sp>
      <p:sp>
        <p:nvSpPr>
          <p:cNvPr id="22" name="bar"/>
          <p:cNvSpPr/>
          <p:nvPr/>
        </p:nvSpPr>
        <p:spPr>
          <a:xfrm>
            <a:off x="9852296" y="2036250"/>
            <a:ext cx="773858" cy="3669750"/>
          </a:xfrm>
          <a:prstGeom prst="rect">
            <a:avLst/>
          </a:prstGeom>
          <a:solidFill>
            <a:srgbClr val="4244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bar-value: &gt;4 200"/>
          <p:cNvSpPr txBox="1"/>
          <p:nvPr/>
        </p:nvSpPr>
        <p:spPr>
          <a:xfrm>
            <a:off x="9744296" y="1783758"/>
            <a:ext cx="989858" cy="1981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-12">
                <a:solidFill>
                  <a:srgbClr val="A0A0AD"/>
                </a:solidFill>
                <a:latin typeface="Onest SemiBold"/>
                <a:ea typeface="Onest SemiBold"/>
                <a:cs typeface="Onest SemiBold"/>
              </a:rPr>
              <a:t>&gt;4 200</a:t>
            </a:r>
          </a:p>
        </p:txBody>
      </p:sp>
      <p:sp>
        <p:nvSpPr>
          <p:cNvPr id="24" name="axis: 2024"/>
          <p:cNvSpPr txBox="1"/>
          <p:nvPr/>
        </p:nvSpPr>
        <p:spPr>
          <a:xfrm>
            <a:off x="9780296" y="5839908"/>
            <a:ext cx="917858" cy="1981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>
                <a:solidFill>
                  <a:srgbClr val="A0A0AD"/>
                </a:solidFill>
                <a:latin typeface="Onest"/>
                <a:ea typeface="Onest"/>
                <a:cs typeface="Onest"/>
              </a:rPr>
              <a:t>2024</a:t>
            </a:r>
          </a:p>
        </p:txBody>
      </p:sp>
      <p:sp>
        <p:nvSpPr>
          <p:cNvPr id="25" name="bar"/>
          <p:cNvSpPr/>
          <p:nvPr/>
        </p:nvSpPr>
        <p:spPr>
          <a:xfrm>
            <a:off x="10770154" y="1512000"/>
            <a:ext cx="773858" cy="4194000"/>
          </a:xfrm>
          <a:prstGeom prst="rect">
            <a:avLst/>
          </a:prstGeom>
          <a:solidFill>
            <a:srgbClr val="E0872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bar-value: &gt;4 800"/>
          <p:cNvSpPr txBox="1"/>
          <p:nvPr/>
        </p:nvSpPr>
        <p:spPr>
          <a:xfrm>
            <a:off x="10662154" y="1212035"/>
            <a:ext cx="989858" cy="2971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spc="-18">
                <a:solidFill>
                  <a:srgbClr val="F2F1EE"/>
                </a:solidFill>
                <a:latin typeface="PT Serif"/>
                <a:ea typeface="PT Serif"/>
                <a:cs typeface="PT Serif"/>
              </a:rPr>
              <a:t>&gt;4 800</a:t>
            </a:r>
          </a:p>
        </p:txBody>
      </p:sp>
      <p:sp>
        <p:nvSpPr>
          <p:cNvPr id="27" name="axis: 2025"/>
          <p:cNvSpPr txBox="1"/>
          <p:nvPr/>
        </p:nvSpPr>
        <p:spPr>
          <a:xfrm>
            <a:off x="10698154" y="5839908"/>
            <a:ext cx="917858" cy="1981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0">
                <a:solidFill>
                  <a:srgbClr val="A0A0AD"/>
                </a:solidFill>
                <a:latin typeface="Onest"/>
                <a:ea typeface="Onest"/>
                <a:cs typeface="Onest"/>
              </a:rPr>
              <a:t>2025</a:t>
            </a:r>
          </a:p>
        </p:txBody>
      </p:sp>
      <p:cxnSp>
        <p:nvCxnSpPr>
          <p:cNvPr id="28" name="motif"/>
          <p:cNvCxnSpPr/>
          <p:nvPr/>
        </p:nvCxnSpPr>
        <p:spPr>
          <a:xfrm>
            <a:off x="5263005" y="5706000"/>
            <a:ext cx="6281007" cy="0"/>
          </a:xfrm>
          <a:prstGeom prst="line">
            <a:avLst/>
          </a:prstGeom>
          <a:ln w="6350">
            <a:solidFill>
              <a:srgbClr val="65677F"/>
            </a:solidFill>
          </a:ln>
          <a:effectLst/>
        </p:spPr>
      </p:cxnSp>
      <p:sp>
        <p:nvSpPr>
          <p:cNvPr id="29" name="label: МЛРД РУБ."/>
          <p:cNvSpPr txBox="1"/>
          <p:nvPr/>
        </p:nvSpPr>
        <p:spPr>
          <a:xfrm>
            <a:off x="5263005" y="571618"/>
            <a:ext cx="6281007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138">
                <a:solidFill>
                  <a:srgbClr val="A0A0AD"/>
                </a:solidFill>
                <a:latin typeface="Onest SemiBold"/>
                <a:ea typeface="Onest SemiBold"/>
                <a:cs typeface="Onest SemiBold"/>
              </a:rPr>
              <a:t>МЛРД РУБ.</a:t>
            </a:r>
          </a:p>
        </p:txBody>
      </p:sp>
      <p:sp>
        <p:nvSpPr>
          <p:cNvPr id="30" name="folio: ЭНЕРГО ГРУПП · 2025"/>
          <p:cNvSpPr txBox="1"/>
          <p:nvPr/>
        </p:nvSpPr>
        <p:spPr>
          <a:xfrm>
            <a:off x="648000" y="6234419"/>
            <a:ext cx="5760000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138">
                <a:solidFill>
                  <a:srgbClr val="A0A0AD"/>
                </a:solidFill>
                <a:latin typeface="Onest SemiBold"/>
                <a:ea typeface="Onest SemiBold"/>
                <a:cs typeface="Onest SemiBold"/>
              </a:rPr>
              <a:t>ЭНЕРГО ГРУПП · 2025</a:t>
            </a:r>
          </a:p>
        </p:txBody>
      </p:sp>
      <p:sp>
        <p:nvSpPr>
          <p:cNvPr id="31" name="folio: 09 / 13"/>
          <p:cNvSpPr txBox="1"/>
          <p:nvPr/>
        </p:nvSpPr>
        <p:spPr>
          <a:xfrm>
            <a:off x="10104012" y="6234419"/>
            <a:ext cx="1440000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138">
                <a:solidFill>
                  <a:srgbClr val="A0A0AD"/>
                </a:solidFill>
                <a:latin typeface="Onest SemiBold"/>
                <a:ea typeface="Onest SemiBold"/>
                <a:cs typeface="Onest SemiBold"/>
              </a:rPr>
              <a:t>09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round"/>
          <p:cNvSpPr/>
          <p:nvPr/>
        </p:nvSpPr>
        <p:spPr>
          <a:xfrm>
            <a:off x="0" y="0"/>
            <a:ext cx="12192012" cy="6858000"/>
          </a:xfrm>
          <a:prstGeom prst="rect">
            <a:avLst/>
          </a:prstGeom>
          <a:solidFill>
            <a:srgbClr val="21233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label: КАК МЫ ВЕДЁМ ОБЪЕКТ"/>
          <p:cNvSpPr txBox="1"/>
          <p:nvPr/>
        </p:nvSpPr>
        <p:spPr>
          <a:xfrm>
            <a:off x="648000" y="571618"/>
            <a:ext cx="5400000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138">
                <a:solidFill>
                  <a:srgbClr val="A0A0AD"/>
                </a:solidFill>
                <a:latin typeface="Onest SemiBold"/>
                <a:ea typeface="Onest SemiBold"/>
                <a:cs typeface="Onest SemiBold"/>
              </a:rPr>
              <a:t>КАК МЫ ВЕДЁМ ОБЪЕКТ</a:t>
            </a:r>
          </a:p>
        </p:txBody>
      </p:sp>
      <p:sp>
        <p:nvSpPr>
          <p:cNvPr id="4" name="title: Один подрядчик"/>
          <p:cNvSpPr txBox="1"/>
          <p:nvPr/>
        </p:nvSpPr>
        <p:spPr>
          <a:xfrm>
            <a:off x="648000" y="1262787"/>
            <a:ext cx="7204008" cy="141259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836"/>
              </a:lnSpc>
              <a:spcBef>
                <a:spcPts val="0"/>
              </a:spcBef>
              <a:spcAft>
                <a:spcPts val="0"/>
              </a:spcAft>
            </a:pPr>
            <a:r>
              <a:rPr sz="4836" b="0" i="0" spc="-97">
                <a:solidFill>
                  <a:srgbClr val="F2F1EE"/>
                </a:solidFill>
                <a:latin typeface="PT Serif"/>
                <a:ea typeface="PT Serif"/>
                <a:cs typeface="PT Serif"/>
              </a:rPr>
              <a:t>Один подрядчик</a:t>
            </a:r>
          </a:p>
          <a:p>
            <a:pPr algn="l">
              <a:lnSpc>
                <a:spcPts val="4836"/>
              </a:lnSpc>
              <a:spcBef>
                <a:spcPts val="0"/>
              </a:spcBef>
              <a:spcAft>
                <a:spcPts val="0"/>
              </a:spcAft>
            </a:pPr>
            <a:r>
              <a:rPr sz="4836" b="0" i="0" spc="-97">
                <a:solidFill>
                  <a:srgbClr val="F2F1EE"/>
                </a:solidFill>
                <a:latin typeface="PT Serif"/>
                <a:ea typeface="PT Serif"/>
                <a:cs typeface="PT Serif"/>
              </a:rPr>
              <a:t>на всех этапах</a:t>
            </a:r>
          </a:p>
        </p:txBody>
      </p:sp>
      <p:cxnSp>
        <p:nvCxnSpPr>
          <p:cNvPr id="5" name="motif"/>
          <p:cNvCxnSpPr/>
          <p:nvPr/>
        </p:nvCxnSpPr>
        <p:spPr>
          <a:xfrm>
            <a:off x="0" y="3840480"/>
            <a:ext cx="12192012" cy="0"/>
          </a:xfrm>
          <a:prstGeom prst="line">
            <a:avLst/>
          </a:prstGeom>
          <a:ln w="9525">
            <a:solidFill>
              <a:srgbClr val="65677F"/>
            </a:solidFill>
          </a:ln>
          <a:effectLst/>
        </p:spPr>
      </p:cxnSp>
      <p:sp>
        <p:nvSpPr>
          <p:cNvPr id="6" name="motif"/>
          <p:cNvSpPr/>
          <p:nvPr/>
        </p:nvSpPr>
        <p:spPr>
          <a:xfrm>
            <a:off x="680400" y="3786480"/>
            <a:ext cx="108000" cy="108000"/>
          </a:xfrm>
          <a:prstGeom prst="ellipse">
            <a:avLst/>
          </a:prstGeom>
          <a:solidFill>
            <a:srgbClr val="F2F1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index: 01"/>
          <p:cNvSpPr txBox="1"/>
          <p:nvPr/>
        </p:nvSpPr>
        <p:spPr>
          <a:xfrm>
            <a:off x="648000" y="3439718"/>
            <a:ext cx="2006402" cy="238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50">
                <a:solidFill>
                  <a:srgbClr val="A0A0AD"/>
                </a:solidFill>
                <a:latin typeface="Onest SemiBold"/>
                <a:ea typeface="Onest SemiBold"/>
                <a:cs typeface="Onest SemiBold"/>
              </a:rPr>
              <a:t>01</a:t>
            </a:r>
          </a:p>
        </p:txBody>
      </p:sp>
      <p:sp>
        <p:nvSpPr>
          <p:cNvPr id="8" name="step: Проект"/>
          <p:cNvSpPr txBox="1"/>
          <p:nvPr/>
        </p:nvSpPr>
        <p:spPr>
          <a:xfrm>
            <a:off x="648000" y="4097560"/>
            <a:ext cx="1934402" cy="368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spc="-10">
                <a:solidFill>
                  <a:srgbClr val="F2F1EE"/>
                </a:solidFill>
                <a:latin typeface="Onest SemiBold"/>
                <a:ea typeface="Onest SemiBold"/>
                <a:cs typeface="Onest SemiBold"/>
              </a:rPr>
              <a:t>Проект</a:t>
            </a:r>
          </a:p>
        </p:txBody>
      </p:sp>
      <p:sp>
        <p:nvSpPr>
          <p:cNvPr id="9" name="body: Изыскания"/>
          <p:cNvSpPr txBox="1"/>
          <p:nvPr/>
        </p:nvSpPr>
        <p:spPr>
          <a:xfrm>
            <a:off x="648000" y="4479880"/>
            <a:ext cx="1934402" cy="5582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spc="0">
                <a:solidFill>
                  <a:srgbClr val="A0A0AD"/>
                </a:solidFill>
                <a:latin typeface="Onest"/>
                <a:ea typeface="Onest"/>
                <a:cs typeface="Onest"/>
              </a:rPr>
              <a:t>Изыскания</a:t>
            </a:r>
          </a:p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spc="0">
                <a:solidFill>
                  <a:srgbClr val="A0A0AD"/>
                </a:solidFill>
                <a:latin typeface="Onest"/>
                <a:ea typeface="Onest"/>
                <a:cs typeface="Onest"/>
              </a:rPr>
              <a:t>и проектирование</a:t>
            </a:r>
          </a:p>
        </p:txBody>
      </p:sp>
      <p:sp>
        <p:nvSpPr>
          <p:cNvPr id="10" name="motif"/>
          <p:cNvSpPr/>
          <p:nvPr/>
        </p:nvSpPr>
        <p:spPr>
          <a:xfrm>
            <a:off x="2902802" y="3786480"/>
            <a:ext cx="108000" cy="108000"/>
          </a:xfrm>
          <a:prstGeom prst="ellipse">
            <a:avLst/>
          </a:prstGeom>
          <a:solidFill>
            <a:srgbClr val="F2F1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index: 02"/>
          <p:cNvSpPr txBox="1"/>
          <p:nvPr/>
        </p:nvSpPr>
        <p:spPr>
          <a:xfrm>
            <a:off x="2870402" y="3439718"/>
            <a:ext cx="2006402" cy="238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50">
                <a:solidFill>
                  <a:srgbClr val="A0A0AD"/>
                </a:solidFill>
                <a:latin typeface="Onest SemiBold"/>
                <a:ea typeface="Onest SemiBold"/>
                <a:cs typeface="Onest SemiBold"/>
              </a:rPr>
              <a:t>02</a:t>
            </a:r>
          </a:p>
        </p:txBody>
      </p:sp>
      <p:sp>
        <p:nvSpPr>
          <p:cNvPr id="12" name="step: Поставка"/>
          <p:cNvSpPr txBox="1"/>
          <p:nvPr/>
        </p:nvSpPr>
        <p:spPr>
          <a:xfrm>
            <a:off x="2870402" y="4097560"/>
            <a:ext cx="1934402" cy="368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spc="-10">
                <a:solidFill>
                  <a:srgbClr val="F2F1EE"/>
                </a:solidFill>
                <a:latin typeface="Onest SemiBold"/>
                <a:ea typeface="Onest SemiBold"/>
                <a:cs typeface="Onest SemiBold"/>
              </a:rPr>
              <a:t>Поставка</a:t>
            </a:r>
          </a:p>
        </p:txBody>
      </p:sp>
      <p:sp>
        <p:nvSpPr>
          <p:cNvPr id="13" name="body: Поставка"/>
          <p:cNvSpPr txBox="1"/>
          <p:nvPr/>
        </p:nvSpPr>
        <p:spPr>
          <a:xfrm>
            <a:off x="2870402" y="4479880"/>
            <a:ext cx="1934402" cy="5582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spc="0">
                <a:solidFill>
                  <a:srgbClr val="A0A0AD"/>
                </a:solidFill>
                <a:latin typeface="Onest"/>
                <a:ea typeface="Onest"/>
                <a:cs typeface="Onest"/>
              </a:rPr>
              <a:t>Поставка</a:t>
            </a:r>
          </a:p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spc="0">
                <a:solidFill>
                  <a:srgbClr val="A0A0AD"/>
                </a:solidFill>
                <a:latin typeface="Onest"/>
                <a:ea typeface="Onest"/>
                <a:cs typeface="Onest"/>
              </a:rPr>
              <a:t>оборудования</a:t>
            </a:r>
          </a:p>
        </p:txBody>
      </p:sp>
      <p:sp>
        <p:nvSpPr>
          <p:cNvPr id="14" name="motif"/>
          <p:cNvSpPr/>
          <p:nvPr/>
        </p:nvSpPr>
        <p:spPr>
          <a:xfrm>
            <a:off x="5092805" y="3754080"/>
            <a:ext cx="172800" cy="172800"/>
          </a:xfrm>
          <a:prstGeom prst="ellipse">
            <a:avLst/>
          </a:prstGeom>
          <a:solidFill>
            <a:srgbClr val="E0872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index: 03"/>
          <p:cNvSpPr txBox="1"/>
          <p:nvPr/>
        </p:nvSpPr>
        <p:spPr>
          <a:xfrm>
            <a:off x="5092805" y="3439718"/>
            <a:ext cx="2006402" cy="238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50">
                <a:solidFill>
                  <a:srgbClr val="E0872F"/>
                </a:solidFill>
                <a:latin typeface="Onest SemiBold"/>
                <a:ea typeface="Onest SemiBold"/>
                <a:cs typeface="Onest SemiBold"/>
              </a:rPr>
              <a:t>03</a:t>
            </a:r>
          </a:p>
        </p:txBody>
      </p:sp>
      <p:sp>
        <p:nvSpPr>
          <p:cNvPr id="16" name="step: Строительство"/>
          <p:cNvSpPr txBox="1"/>
          <p:nvPr/>
        </p:nvSpPr>
        <p:spPr>
          <a:xfrm>
            <a:off x="5092805" y="4097560"/>
            <a:ext cx="1934402" cy="368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spc="-10">
                <a:solidFill>
                  <a:srgbClr val="F2F1EE"/>
                </a:solidFill>
                <a:latin typeface="Onest SemiBold"/>
                <a:ea typeface="Onest SemiBold"/>
                <a:cs typeface="Onest SemiBold"/>
              </a:rPr>
              <a:t>Строительство</a:t>
            </a:r>
          </a:p>
        </p:txBody>
      </p:sp>
      <p:sp>
        <p:nvSpPr>
          <p:cNvPr id="17" name="body: Монтаж"/>
          <p:cNvSpPr txBox="1"/>
          <p:nvPr/>
        </p:nvSpPr>
        <p:spPr>
          <a:xfrm>
            <a:off x="5092805" y="4479880"/>
            <a:ext cx="1934402" cy="81076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spc="0">
                <a:solidFill>
                  <a:srgbClr val="A0A0AD"/>
                </a:solidFill>
                <a:latin typeface="Onest"/>
                <a:ea typeface="Onest"/>
                <a:cs typeface="Onest"/>
              </a:rPr>
              <a:t>Монтаж</a:t>
            </a:r>
          </a:p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spc="0">
                <a:solidFill>
                  <a:srgbClr val="A0A0AD"/>
                </a:solidFill>
                <a:latin typeface="Onest"/>
                <a:ea typeface="Onest"/>
                <a:cs typeface="Onest"/>
              </a:rPr>
              <a:t>собственными</a:t>
            </a:r>
          </a:p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spc="0">
                <a:solidFill>
                  <a:srgbClr val="A0A0AD"/>
                </a:solidFill>
                <a:latin typeface="Onest"/>
                <a:ea typeface="Onest"/>
                <a:cs typeface="Onest"/>
              </a:rPr>
              <a:t>бригадами</a:t>
            </a:r>
          </a:p>
        </p:txBody>
      </p:sp>
      <p:sp>
        <p:nvSpPr>
          <p:cNvPr id="18" name="motif"/>
          <p:cNvSpPr/>
          <p:nvPr/>
        </p:nvSpPr>
        <p:spPr>
          <a:xfrm>
            <a:off x="7347607" y="3786480"/>
            <a:ext cx="108000" cy="108000"/>
          </a:xfrm>
          <a:prstGeom prst="ellipse">
            <a:avLst/>
          </a:prstGeom>
          <a:solidFill>
            <a:srgbClr val="F2F1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index: 04"/>
          <p:cNvSpPr txBox="1"/>
          <p:nvPr/>
        </p:nvSpPr>
        <p:spPr>
          <a:xfrm>
            <a:off x="7315207" y="3439718"/>
            <a:ext cx="2006402" cy="238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50">
                <a:solidFill>
                  <a:srgbClr val="A0A0AD"/>
                </a:solidFill>
                <a:latin typeface="Onest SemiBold"/>
                <a:ea typeface="Onest SemiBold"/>
                <a:cs typeface="Onest SemiBold"/>
              </a:rPr>
              <a:t>04</a:t>
            </a:r>
          </a:p>
        </p:txBody>
      </p:sp>
      <p:sp>
        <p:nvSpPr>
          <p:cNvPr id="20" name="step: Наладка"/>
          <p:cNvSpPr txBox="1"/>
          <p:nvPr/>
        </p:nvSpPr>
        <p:spPr>
          <a:xfrm>
            <a:off x="7315207" y="4097560"/>
            <a:ext cx="1934402" cy="368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spc="-10">
                <a:solidFill>
                  <a:srgbClr val="F2F1EE"/>
                </a:solidFill>
                <a:latin typeface="Onest SemiBold"/>
                <a:ea typeface="Onest SemiBold"/>
                <a:cs typeface="Onest SemiBold"/>
              </a:rPr>
              <a:t>Наладка</a:t>
            </a:r>
          </a:p>
        </p:txBody>
      </p:sp>
      <p:sp>
        <p:nvSpPr>
          <p:cNvPr id="21" name="body: Пусконаладка"/>
          <p:cNvSpPr txBox="1"/>
          <p:nvPr/>
        </p:nvSpPr>
        <p:spPr>
          <a:xfrm>
            <a:off x="7315207" y="4479880"/>
            <a:ext cx="1934402" cy="5582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spc="0">
                <a:solidFill>
                  <a:srgbClr val="A0A0AD"/>
                </a:solidFill>
                <a:latin typeface="Onest"/>
                <a:ea typeface="Onest"/>
                <a:cs typeface="Onest"/>
              </a:rPr>
              <a:t>Пусконаладка</a:t>
            </a:r>
          </a:p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spc="0">
                <a:solidFill>
                  <a:srgbClr val="A0A0AD"/>
                </a:solidFill>
                <a:latin typeface="Onest"/>
                <a:ea typeface="Onest"/>
                <a:cs typeface="Onest"/>
              </a:rPr>
              <a:t>и испытания</a:t>
            </a:r>
          </a:p>
        </p:txBody>
      </p:sp>
      <p:sp>
        <p:nvSpPr>
          <p:cNvPr id="22" name="motif"/>
          <p:cNvSpPr/>
          <p:nvPr/>
        </p:nvSpPr>
        <p:spPr>
          <a:xfrm>
            <a:off x="9570010" y="3786480"/>
            <a:ext cx="108000" cy="108000"/>
          </a:xfrm>
          <a:prstGeom prst="ellipse">
            <a:avLst/>
          </a:prstGeom>
          <a:solidFill>
            <a:srgbClr val="F2F1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index: 05"/>
          <p:cNvSpPr txBox="1"/>
          <p:nvPr/>
        </p:nvSpPr>
        <p:spPr>
          <a:xfrm>
            <a:off x="9537610" y="3439718"/>
            <a:ext cx="2006402" cy="238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50">
                <a:solidFill>
                  <a:srgbClr val="A0A0AD"/>
                </a:solidFill>
                <a:latin typeface="Onest SemiBold"/>
                <a:ea typeface="Onest SemiBold"/>
                <a:cs typeface="Onest SemiBold"/>
              </a:rPr>
              <a:t>05</a:t>
            </a:r>
          </a:p>
        </p:txBody>
      </p:sp>
      <p:sp>
        <p:nvSpPr>
          <p:cNvPr id="24" name="step: Сервис"/>
          <p:cNvSpPr txBox="1"/>
          <p:nvPr/>
        </p:nvSpPr>
        <p:spPr>
          <a:xfrm>
            <a:off x="9537610" y="4097560"/>
            <a:ext cx="1934402" cy="368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spc="-10">
                <a:solidFill>
                  <a:srgbClr val="F2F1EE"/>
                </a:solidFill>
                <a:latin typeface="Onest SemiBold"/>
                <a:ea typeface="Onest SemiBold"/>
                <a:cs typeface="Onest SemiBold"/>
              </a:rPr>
              <a:t>Сервис</a:t>
            </a:r>
          </a:p>
        </p:txBody>
      </p:sp>
      <p:sp>
        <p:nvSpPr>
          <p:cNvPr id="25" name="body: Обслуживание"/>
          <p:cNvSpPr txBox="1"/>
          <p:nvPr/>
        </p:nvSpPr>
        <p:spPr>
          <a:xfrm>
            <a:off x="9537610" y="4479880"/>
            <a:ext cx="1934402" cy="5582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spc="0">
                <a:solidFill>
                  <a:srgbClr val="A0A0AD"/>
                </a:solidFill>
                <a:latin typeface="Onest"/>
                <a:ea typeface="Onest"/>
                <a:cs typeface="Onest"/>
              </a:rPr>
              <a:t>Обслуживание</a:t>
            </a:r>
          </a:p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spc="0">
                <a:solidFill>
                  <a:srgbClr val="A0A0AD"/>
                </a:solidFill>
                <a:latin typeface="Onest"/>
                <a:ea typeface="Onest"/>
                <a:cs typeface="Onest"/>
              </a:rPr>
              <a:t>электроустановок</a:t>
            </a:r>
          </a:p>
        </p:txBody>
      </p:sp>
      <p:sp>
        <p:nvSpPr>
          <p:cNvPr id="26" name="folio: ЭНЕРГО ГРУПП · 2025"/>
          <p:cNvSpPr txBox="1"/>
          <p:nvPr/>
        </p:nvSpPr>
        <p:spPr>
          <a:xfrm>
            <a:off x="648000" y="6234419"/>
            <a:ext cx="5760000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138">
                <a:solidFill>
                  <a:srgbClr val="A0A0AD"/>
                </a:solidFill>
                <a:latin typeface="Onest SemiBold"/>
                <a:ea typeface="Onest SemiBold"/>
                <a:cs typeface="Onest SemiBold"/>
              </a:rPr>
              <a:t>ЭНЕРГО ГРУПП · 2025</a:t>
            </a:r>
          </a:p>
        </p:txBody>
      </p:sp>
      <p:sp>
        <p:nvSpPr>
          <p:cNvPr id="27" name="folio: 10 / 13"/>
          <p:cNvSpPr txBox="1"/>
          <p:nvPr/>
        </p:nvSpPr>
        <p:spPr>
          <a:xfrm>
            <a:off x="10104012" y="6234419"/>
            <a:ext cx="1440000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138">
                <a:solidFill>
                  <a:srgbClr val="A0A0AD"/>
                </a:solidFill>
                <a:latin typeface="Onest SemiBold"/>
                <a:ea typeface="Onest SemiBold"/>
                <a:cs typeface="Onest SemiBold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round"/>
          <p:cNvSpPr/>
          <p:nvPr/>
        </p:nvSpPr>
        <p:spPr>
          <a:xfrm>
            <a:off x="0" y="0"/>
            <a:ext cx="12192012" cy="6858000"/>
          </a:xfrm>
          <a:prstGeom prst="rect">
            <a:avLst/>
          </a:prstGeom>
          <a:solidFill>
            <a:srgbClr val="21233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image" descr="d3635b60ab5c4e4d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6096006" cy="6858000"/>
          </a:xfrm>
          <a:prstGeom prst="rect">
            <a:avLst/>
          </a:prstGeom>
        </p:spPr>
      </p:pic>
      <p:pic>
        <p:nvPicPr>
          <p:cNvPr id="4" name="image" descr="40b6d04c72b990bc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312006" y="3840480"/>
            <a:ext cx="3184803" cy="3017520"/>
          </a:xfrm>
          <a:prstGeom prst="rect">
            <a:avLst/>
          </a:prstGeom>
        </p:spPr>
      </p:pic>
      <p:pic>
        <p:nvPicPr>
          <p:cNvPr id="5" name="image" descr="16e711b77d3fc991.jp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712809" y="3840480"/>
            <a:ext cx="2479203" cy="3017520"/>
          </a:xfrm>
          <a:prstGeom prst="rect">
            <a:avLst/>
          </a:prstGeom>
        </p:spPr>
      </p:pic>
      <p:sp>
        <p:nvSpPr>
          <p:cNvPr id="6" name="label: ПАРК ТЕХНИКИ"/>
          <p:cNvSpPr txBox="1"/>
          <p:nvPr/>
        </p:nvSpPr>
        <p:spPr>
          <a:xfrm>
            <a:off x="6528006" y="571618"/>
            <a:ext cx="5016006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138">
                <a:solidFill>
                  <a:srgbClr val="A0A0AD"/>
                </a:solidFill>
                <a:latin typeface="Onest SemiBold"/>
                <a:ea typeface="Onest SemiBold"/>
                <a:cs typeface="Onest SemiBold"/>
              </a:rPr>
              <a:t>ПАРК ТЕХНИКИ</a:t>
            </a:r>
          </a:p>
        </p:txBody>
      </p:sp>
      <p:sp>
        <p:nvSpPr>
          <p:cNvPr id="7" name="title: 141 единица"/>
          <p:cNvSpPr txBox="1"/>
          <p:nvPr/>
        </p:nvSpPr>
        <p:spPr>
          <a:xfrm>
            <a:off x="6528006" y="1236198"/>
            <a:ext cx="5016006" cy="115671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960" b="0" i="0" spc="-79">
                <a:solidFill>
                  <a:srgbClr val="F2F1EE"/>
                </a:solidFill>
                <a:latin typeface="PT Serif"/>
                <a:ea typeface="PT Serif"/>
                <a:cs typeface="PT Serif"/>
              </a:rPr>
              <a:t>141 единица</a:t>
            </a:r>
          </a:p>
          <a:p>
            <a:pPr algn="l"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960" b="0" i="0" spc="-79">
                <a:solidFill>
                  <a:srgbClr val="F2F1EE"/>
                </a:solidFill>
                <a:latin typeface="PT Serif"/>
                <a:ea typeface="PT Serif"/>
                <a:cs typeface="PT Serif"/>
              </a:rPr>
              <a:t>собственной техники</a:t>
            </a:r>
          </a:p>
        </p:txBody>
      </p:sp>
      <p:sp>
        <p:nvSpPr>
          <p:cNvPr id="8" name="body: 68 единиц спецтехники, 33 бури"/>
          <p:cNvSpPr txBox="1"/>
          <p:nvPr/>
        </p:nvSpPr>
        <p:spPr>
          <a:xfrm>
            <a:off x="6528006" y="2447314"/>
            <a:ext cx="5016006" cy="67792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14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 spc="0">
                <a:solidFill>
                  <a:srgbClr val="A0A0AD"/>
                </a:solidFill>
                <a:latin typeface="Onest"/>
                <a:ea typeface="Onest"/>
                <a:cs typeface="Onest"/>
              </a:rPr>
              <a:t>68 единиц спецтехники, 33 бурильно-крановые</a:t>
            </a:r>
          </a:p>
          <a:p>
            <a:pPr algn="l">
              <a:lnSpc>
                <a:spcPts val="2414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 spc="0">
                <a:solidFill>
                  <a:srgbClr val="A0A0AD"/>
                </a:solidFill>
                <a:latin typeface="Onest"/>
                <a:ea typeface="Onest"/>
                <a:cs typeface="Onest"/>
              </a:rPr>
              <a:t>машины, 5 машин ГНБ.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round"/>
          <p:cNvSpPr/>
          <p:nvPr/>
        </p:nvSpPr>
        <p:spPr>
          <a:xfrm>
            <a:off x="0" y="0"/>
            <a:ext cx="12192012" cy="6858000"/>
          </a:xfrm>
          <a:prstGeom prst="rect">
            <a:avLst/>
          </a:prstGeom>
          <a:solidFill>
            <a:srgbClr val="F2F1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arc"/>
          <p:cNvSpPr/>
          <p:nvPr/>
        </p:nvSpPr>
        <p:spPr>
          <a:xfrm>
            <a:off x="10235106" y="5208827"/>
            <a:ext cx="1944555" cy="1631676"/>
          </a:xfrm>
          <a:custGeom>
            <a:avLst/>
            <a:gdLst/>
            <a:ahLst/>
            <a:cxnLst/>
            <a:rect l="0" t="0" r="r" b="b"/>
            <a:pathLst>
              <a:path w="1944555" h="1631676">
                <a:moveTo>
                  <a:pt x="0" y="1631676"/>
                </a:moveTo>
                <a:lnTo>
                  <a:pt x="9631" y="1609260"/>
                </a:lnTo>
                <a:lnTo>
                  <a:pt x="19456" y="1586929"/>
                </a:lnTo>
                <a:lnTo>
                  <a:pt x="29477" y="1564685"/>
                </a:lnTo>
                <a:lnTo>
                  <a:pt x="39691" y="1542529"/>
                </a:lnTo>
                <a:lnTo>
                  <a:pt x="50098" y="1520463"/>
                </a:lnTo>
                <a:lnTo>
                  <a:pt x="60697" y="1498489"/>
                </a:lnTo>
                <a:lnTo>
                  <a:pt x="71487" y="1476608"/>
                </a:lnTo>
                <a:lnTo>
                  <a:pt x="82468" y="1454822"/>
                </a:lnTo>
                <a:lnTo>
                  <a:pt x="93639" y="1433133"/>
                </a:lnTo>
                <a:lnTo>
                  <a:pt x="104999" y="1411542"/>
                </a:lnTo>
                <a:lnTo>
                  <a:pt x="116546" y="1390050"/>
                </a:lnTo>
                <a:lnTo>
                  <a:pt x="128281" y="1368661"/>
                </a:lnTo>
                <a:lnTo>
                  <a:pt x="140202" y="1347375"/>
                </a:lnTo>
                <a:lnTo>
                  <a:pt x="152308" y="1326193"/>
                </a:lnTo>
                <a:lnTo>
                  <a:pt x="164598" y="1305118"/>
                </a:lnTo>
                <a:lnTo>
                  <a:pt x="177072" y="1284152"/>
                </a:lnTo>
                <a:lnTo>
                  <a:pt x="189729" y="1263294"/>
                </a:lnTo>
                <a:lnTo>
                  <a:pt x="202567" y="1242548"/>
                </a:lnTo>
                <a:lnTo>
                  <a:pt x="215585" y="1221915"/>
                </a:lnTo>
                <a:lnTo>
                  <a:pt x="228784" y="1201396"/>
                </a:lnTo>
                <a:lnTo>
                  <a:pt x="242160" y="1180993"/>
                </a:lnTo>
                <a:lnTo>
                  <a:pt x="255714" y="1160708"/>
                </a:lnTo>
                <a:lnTo>
                  <a:pt x="269445" y="1140542"/>
                </a:lnTo>
                <a:lnTo>
                  <a:pt x="283351" y="1120496"/>
                </a:lnTo>
                <a:lnTo>
                  <a:pt x="297432" y="1100573"/>
                </a:lnTo>
                <a:lnTo>
                  <a:pt x="311686" y="1080773"/>
                </a:lnTo>
                <a:lnTo>
                  <a:pt x="326112" y="1061098"/>
                </a:lnTo>
                <a:lnTo>
                  <a:pt x="340709" y="1041550"/>
                </a:lnTo>
                <a:lnTo>
                  <a:pt x="355477" y="1022130"/>
                </a:lnTo>
                <a:lnTo>
                  <a:pt x="370413" y="1002839"/>
                </a:lnTo>
                <a:lnTo>
                  <a:pt x="385517" y="983680"/>
                </a:lnTo>
                <a:lnTo>
                  <a:pt x="400788" y="964653"/>
                </a:lnTo>
                <a:lnTo>
                  <a:pt x="416224" y="945760"/>
                </a:lnTo>
                <a:lnTo>
                  <a:pt x="431824" y="927003"/>
                </a:lnTo>
                <a:lnTo>
                  <a:pt x="447587" y="908382"/>
                </a:lnTo>
                <a:lnTo>
                  <a:pt x="463513" y="889900"/>
                </a:lnTo>
                <a:lnTo>
                  <a:pt x="479599" y="871558"/>
                </a:lnTo>
                <a:lnTo>
                  <a:pt x="495844" y="853356"/>
                </a:lnTo>
                <a:lnTo>
                  <a:pt x="512248" y="835297"/>
                </a:lnTo>
                <a:lnTo>
                  <a:pt x="528809" y="817382"/>
                </a:lnTo>
                <a:lnTo>
                  <a:pt x="545525" y="799612"/>
                </a:lnTo>
                <a:lnTo>
                  <a:pt x="562396" y="781988"/>
                </a:lnTo>
                <a:lnTo>
                  <a:pt x="579420" y="764513"/>
                </a:lnTo>
                <a:lnTo>
                  <a:pt x="596596" y="747186"/>
                </a:lnTo>
                <a:lnTo>
                  <a:pt x="613922" y="730010"/>
                </a:lnTo>
                <a:lnTo>
                  <a:pt x="631398" y="712986"/>
                </a:lnTo>
                <a:lnTo>
                  <a:pt x="649021" y="696116"/>
                </a:lnTo>
                <a:lnTo>
                  <a:pt x="666791" y="679399"/>
                </a:lnTo>
                <a:lnTo>
                  <a:pt x="684706" y="662839"/>
                </a:lnTo>
                <a:lnTo>
                  <a:pt x="702765" y="646435"/>
                </a:lnTo>
                <a:lnTo>
                  <a:pt x="720967" y="630189"/>
                </a:lnTo>
                <a:lnTo>
                  <a:pt x="739310" y="614103"/>
                </a:lnTo>
                <a:lnTo>
                  <a:pt x="757792" y="598178"/>
                </a:lnTo>
                <a:lnTo>
                  <a:pt x="776412" y="582415"/>
                </a:lnTo>
                <a:lnTo>
                  <a:pt x="795170" y="566814"/>
                </a:lnTo>
                <a:lnTo>
                  <a:pt x="814063" y="551378"/>
                </a:lnTo>
                <a:lnTo>
                  <a:pt x="833089" y="536108"/>
                </a:lnTo>
                <a:lnTo>
                  <a:pt x="852249" y="521004"/>
                </a:lnTo>
                <a:lnTo>
                  <a:pt x="871539" y="506067"/>
                </a:lnTo>
                <a:lnTo>
                  <a:pt x="890959" y="491300"/>
                </a:lnTo>
                <a:lnTo>
                  <a:pt x="910507" y="476703"/>
                </a:lnTo>
                <a:lnTo>
                  <a:pt x="930182" y="462277"/>
                </a:lnTo>
                <a:lnTo>
                  <a:pt x="949982" y="448023"/>
                </a:lnTo>
                <a:lnTo>
                  <a:pt x="969906" y="433942"/>
                </a:lnTo>
                <a:lnTo>
                  <a:pt x="989951" y="420036"/>
                </a:lnTo>
                <a:lnTo>
                  <a:pt x="1010118" y="406305"/>
                </a:lnTo>
                <a:lnTo>
                  <a:pt x="1030403" y="392751"/>
                </a:lnTo>
                <a:lnTo>
                  <a:pt x="1050806" y="379374"/>
                </a:lnTo>
                <a:lnTo>
                  <a:pt x="1071324" y="366176"/>
                </a:lnTo>
                <a:lnTo>
                  <a:pt x="1091958" y="353158"/>
                </a:lnTo>
                <a:lnTo>
                  <a:pt x="1112704" y="340320"/>
                </a:lnTo>
                <a:lnTo>
                  <a:pt x="1133561" y="327663"/>
                </a:lnTo>
                <a:lnTo>
                  <a:pt x="1154528" y="315189"/>
                </a:lnTo>
                <a:lnTo>
                  <a:pt x="1175603" y="302898"/>
                </a:lnTo>
                <a:lnTo>
                  <a:pt x="1196784" y="290792"/>
                </a:lnTo>
                <a:lnTo>
                  <a:pt x="1218070" y="278871"/>
                </a:lnTo>
                <a:lnTo>
                  <a:pt x="1239460" y="267137"/>
                </a:lnTo>
                <a:lnTo>
                  <a:pt x="1260951" y="255589"/>
                </a:lnTo>
                <a:lnTo>
                  <a:pt x="1282542" y="244230"/>
                </a:lnTo>
                <a:lnTo>
                  <a:pt x="1304231" y="233059"/>
                </a:lnTo>
                <a:lnTo>
                  <a:pt x="1326017" y="222078"/>
                </a:lnTo>
                <a:lnTo>
                  <a:pt x="1347898" y="211287"/>
                </a:lnTo>
                <a:lnTo>
                  <a:pt x="1369872" y="200688"/>
                </a:lnTo>
                <a:lnTo>
                  <a:pt x="1391938" y="190281"/>
                </a:lnTo>
                <a:lnTo>
                  <a:pt x="1414094" y="180067"/>
                </a:lnTo>
                <a:lnTo>
                  <a:pt x="1436339" y="170047"/>
                </a:lnTo>
                <a:lnTo>
                  <a:pt x="1458669" y="160221"/>
                </a:lnTo>
                <a:lnTo>
                  <a:pt x="1481085" y="150591"/>
                </a:lnTo>
                <a:lnTo>
                  <a:pt x="1503584" y="141156"/>
                </a:lnTo>
                <a:lnTo>
                  <a:pt x="1526164" y="131918"/>
                </a:lnTo>
                <a:lnTo>
                  <a:pt x="1548824" y="122878"/>
                </a:lnTo>
                <a:lnTo>
                  <a:pt x="1571563" y="114035"/>
                </a:lnTo>
                <a:lnTo>
                  <a:pt x="1594377" y="105392"/>
                </a:lnTo>
                <a:lnTo>
                  <a:pt x="1617266" y="96948"/>
                </a:lnTo>
                <a:lnTo>
                  <a:pt x="1640228" y="88703"/>
                </a:lnTo>
                <a:lnTo>
                  <a:pt x="1663261" y="80660"/>
                </a:lnTo>
                <a:lnTo>
                  <a:pt x="1686363" y="72818"/>
                </a:lnTo>
                <a:lnTo>
                  <a:pt x="1709533" y="65178"/>
                </a:lnTo>
                <a:lnTo>
                  <a:pt x="1732768" y="57740"/>
                </a:lnTo>
                <a:lnTo>
                  <a:pt x="1756068" y="50505"/>
                </a:lnTo>
                <a:lnTo>
                  <a:pt x="1779430" y="43474"/>
                </a:lnTo>
                <a:lnTo>
                  <a:pt x="1802852" y="36647"/>
                </a:lnTo>
                <a:lnTo>
                  <a:pt x="1826333" y="30025"/>
                </a:lnTo>
                <a:lnTo>
                  <a:pt x="1849871" y="23608"/>
                </a:lnTo>
                <a:lnTo>
                  <a:pt x="1873464" y="17396"/>
                </a:lnTo>
                <a:lnTo>
                  <a:pt x="1897110" y="11391"/>
                </a:lnTo>
                <a:lnTo>
                  <a:pt x="1920808" y="5592"/>
                </a:lnTo>
                <a:lnTo>
                  <a:pt x="1944555" y="0"/>
                </a:lnTo>
              </a:path>
            </a:pathLst>
          </a:custGeom>
          <a:noFill/>
          <a:ln w="11430">
            <a:solidFill>
              <a:srgbClr val="C2C2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ghost: «"/>
          <p:cNvSpPr txBox="1"/>
          <p:nvPr/>
        </p:nvSpPr>
        <p:spPr>
          <a:xfrm>
            <a:off x="576000" y="1008707"/>
            <a:ext cx="1440000" cy="3136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000"/>
              </a:lnSpc>
              <a:spcBef>
                <a:spcPts val="0"/>
              </a:spcBef>
              <a:spcAft>
                <a:spcPts val="0"/>
              </a:spcAft>
            </a:pPr>
            <a:r>
              <a:rPr sz="19000" b="0" i="0" spc="0">
                <a:solidFill>
                  <a:srgbClr val="E8B785"/>
                </a:solidFill>
                <a:latin typeface="PT Serif"/>
                <a:ea typeface="PT Serif"/>
                <a:cs typeface="PT Serif"/>
              </a:rPr>
              <a:t>«</a:t>
            </a:r>
          </a:p>
        </p:txBody>
      </p:sp>
      <p:sp>
        <p:nvSpPr>
          <p:cNvPr id="5" name="quote: Стать надёжным партнёром"/>
          <p:cNvSpPr txBox="1"/>
          <p:nvPr/>
        </p:nvSpPr>
        <p:spPr>
          <a:xfrm>
            <a:off x="2494002" y="1922743"/>
            <a:ext cx="8127009" cy="27235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050"/>
              </a:lnSpc>
              <a:spcBef>
                <a:spcPts val="0"/>
              </a:spcBef>
              <a:spcAft>
                <a:spcPts val="0"/>
              </a:spcAft>
            </a:pPr>
            <a:r>
              <a:rPr sz="4140" b="0" i="1" spc="-41">
                <a:solidFill>
                  <a:srgbClr val="1A1B26"/>
                </a:solidFill>
                <a:latin typeface="PT Serif"/>
                <a:ea typeface="PT Serif"/>
                <a:cs typeface="PT Serif"/>
              </a:rPr>
              <a:t>Стать надёжным партнёром</a:t>
            </a:r>
          </a:p>
          <a:p>
            <a:pPr algn="l">
              <a:lnSpc>
                <a:spcPts val="5050"/>
              </a:lnSpc>
              <a:spcBef>
                <a:spcPts val="0"/>
              </a:spcBef>
              <a:spcAft>
                <a:spcPts val="0"/>
              </a:spcAft>
            </a:pPr>
            <a:r>
              <a:rPr sz="4140" b="0" i="1" spc="-41">
                <a:solidFill>
                  <a:srgbClr val="1A1B26"/>
                </a:solidFill>
                <a:latin typeface="PT Serif"/>
                <a:ea typeface="PT Serif"/>
                <a:cs typeface="PT Serif"/>
              </a:rPr>
              <a:t>для заказчика и ответственным</a:t>
            </a:r>
          </a:p>
          <a:p>
            <a:pPr algn="l">
              <a:lnSpc>
                <a:spcPts val="5050"/>
              </a:lnSpc>
              <a:spcBef>
                <a:spcPts val="0"/>
              </a:spcBef>
              <a:spcAft>
                <a:spcPts val="0"/>
              </a:spcAft>
            </a:pPr>
            <a:r>
              <a:rPr sz="4140" b="0" i="1" spc="-41">
                <a:solidFill>
                  <a:srgbClr val="1A1B26"/>
                </a:solidFill>
                <a:latin typeface="PT Serif"/>
                <a:ea typeface="PT Serif"/>
                <a:cs typeface="PT Serif"/>
              </a:rPr>
              <a:t>работодателем для каждого</a:t>
            </a:r>
          </a:p>
          <a:p>
            <a:pPr algn="l">
              <a:lnSpc>
                <a:spcPts val="5050"/>
              </a:lnSpc>
              <a:spcBef>
                <a:spcPts val="0"/>
              </a:spcBef>
              <a:spcAft>
                <a:spcPts val="0"/>
              </a:spcAft>
            </a:pPr>
            <a:r>
              <a:rPr sz="4140" b="0" i="1" spc="-41">
                <a:solidFill>
                  <a:srgbClr val="1A1B26"/>
                </a:solidFill>
                <a:latin typeface="PT Serif"/>
                <a:ea typeface="PT Serif"/>
                <a:cs typeface="PT Serif"/>
              </a:rPr>
              <a:t>сотрудника.</a:t>
            </a:r>
          </a:p>
        </p:txBody>
      </p:sp>
      <p:cxnSp>
        <p:nvCxnSpPr>
          <p:cNvPr id="6" name="motif"/>
          <p:cNvCxnSpPr/>
          <p:nvPr/>
        </p:nvCxnSpPr>
        <p:spPr>
          <a:xfrm>
            <a:off x="2494002" y="4893767"/>
            <a:ext cx="576000" cy="0"/>
          </a:xfrm>
          <a:prstGeom prst="line">
            <a:avLst/>
          </a:prstGeom>
          <a:ln w="25400">
            <a:solidFill>
              <a:srgbClr val="E0872F"/>
            </a:solidFill>
          </a:ln>
          <a:effectLst/>
        </p:spPr>
      </p:cxnSp>
      <p:sp>
        <p:nvSpPr>
          <p:cNvPr id="7" name="author: Цели компании"/>
          <p:cNvSpPr txBox="1"/>
          <p:nvPr/>
        </p:nvSpPr>
        <p:spPr>
          <a:xfrm>
            <a:off x="2494002" y="5067290"/>
            <a:ext cx="8127009" cy="3238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 spc="0">
                <a:solidFill>
                  <a:srgbClr val="1A1B26"/>
                </a:solidFill>
                <a:latin typeface="Onest SemiBold"/>
                <a:ea typeface="Onest SemiBold"/>
                <a:cs typeface="Onest SemiBold"/>
              </a:rPr>
              <a:t>Цели компании</a:t>
            </a:r>
          </a:p>
        </p:txBody>
      </p:sp>
      <p:sp>
        <p:nvSpPr>
          <p:cNvPr id="8" name="label: ГК «ЭНЕРГО ГРУПП»"/>
          <p:cNvSpPr txBox="1"/>
          <p:nvPr/>
        </p:nvSpPr>
        <p:spPr>
          <a:xfrm>
            <a:off x="2494002" y="5357385"/>
            <a:ext cx="8127009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138">
                <a:solidFill>
                  <a:srgbClr val="6C6C70"/>
                </a:solidFill>
                <a:latin typeface="Onest SemiBold"/>
                <a:ea typeface="Onest SemiBold"/>
                <a:cs typeface="Onest SemiBold"/>
              </a:rPr>
              <a:t>ГК «ЭНЕРГО ГРУПП»</a:t>
            </a:r>
          </a:p>
        </p:txBody>
      </p:sp>
      <p:sp>
        <p:nvSpPr>
          <p:cNvPr id="9" name="folio: ЭНЕРГО ГРУПП · 2025"/>
          <p:cNvSpPr txBox="1"/>
          <p:nvPr/>
        </p:nvSpPr>
        <p:spPr>
          <a:xfrm>
            <a:off x="648000" y="6234419"/>
            <a:ext cx="5760000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138">
                <a:solidFill>
                  <a:srgbClr val="6C6C70"/>
                </a:solidFill>
                <a:latin typeface="Onest SemiBold"/>
                <a:ea typeface="Onest SemiBold"/>
                <a:cs typeface="Onest SemiBold"/>
              </a:rPr>
              <a:t>ЭНЕРГО ГРУПП · 2025</a:t>
            </a:r>
          </a:p>
        </p:txBody>
      </p:sp>
      <p:sp>
        <p:nvSpPr>
          <p:cNvPr id="10" name="folio: 12 / 13"/>
          <p:cNvSpPr txBox="1"/>
          <p:nvPr/>
        </p:nvSpPr>
        <p:spPr>
          <a:xfrm>
            <a:off x="10104012" y="6234419"/>
            <a:ext cx="1440000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138">
                <a:solidFill>
                  <a:srgbClr val="6C6C70"/>
                </a:solidFill>
                <a:latin typeface="Onest SemiBold"/>
                <a:ea typeface="Onest SemiBold"/>
                <a:cs typeface="Onest SemiBold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round"/>
          <p:cNvSpPr/>
          <p:nvPr/>
        </p:nvSpPr>
        <p:spPr>
          <a:xfrm>
            <a:off x="0" y="0"/>
            <a:ext cx="12192012" cy="6858000"/>
          </a:xfrm>
          <a:prstGeom prst="rect">
            <a:avLst/>
          </a:prstGeom>
          <a:solidFill>
            <a:srgbClr val="21233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arc"/>
          <p:cNvSpPr/>
          <p:nvPr/>
        </p:nvSpPr>
        <p:spPr>
          <a:xfrm>
            <a:off x="5491099" y="897688"/>
            <a:ext cx="6681893" cy="5913881"/>
          </a:xfrm>
          <a:custGeom>
            <a:avLst/>
            <a:gdLst/>
            <a:ahLst/>
            <a:cxnLst/>
            <a:rect l="0" t="0" r="r" b="b"/>
            <a:pathLst>
              <a:path w="6681893" h="5913881">
                <a:moveTo>
                  <a:pt x="0" y="5913881"/>
                </a:moveTo>
                <a:lnTo>
                  <a:pt x="5719" y="5857089"/>
                </a:lnTo>
                <a:lnTo>
                  <a:pt x="11933" y="5800350"/>
                </a:lnTo>
                <a:lnTo>
                  <a:pt x="18642" y="5743666"/>
                </a:lnTo>
                <a:lnTo>
                  <a:pt x="25845" y="5687044"/>
                </a:lnTo>
                <a:lnTo>
                  <a:pt x="33542" y="5630486"/>
                </a:lnTo>
                <a:lnTo>
                  <a:pt x="41732" y="5573998"/>
                </a:lnTo>
                <a:lnTo>
                  <a:pt x="50415" y="5517583"/>
                </a:lnTo>
                <a:lnTo>
                  <a:pt x="59590" y="5461247"/>
                </a:lnTo>
                <a:lnTo>
                  <a:pt x="69257" y="5404992"/>
                </a:lnTo>
                <a:lnTo>
                  <a:pt x="79414" y="5348824"/>
                </a:lnTo>
                <a:lnTo>
                  <a:pt x="90060" y="5292747"/>
                </a:lnTo>
                <a:lnTo>
                  <a:pt x="101196" y="5236765"/>
                </a:lnTo>
                <a:lnTo>
                  <a:pt x="112819" y="5180882"/>
                </a:lnTo>
                <a:lnTo>
                  <a:pt x="124930" y="5125102"/>
                </a:lnTo>
                <a:lnTo>
                  <a:pt x="137527" y="5069431"/>
                </a:lnTo>
                <a:lnTo>
                  <a:pt x="150610" y="5013871"/>
                </a:lnTo>
                <a:lnTo>
                  <a:pt x="164177" y="4958428"/>
                </a:lnTo>
                <a:lnTo>
                  <a:pt x="178227" y="4903105"/>
                </a:lnTo>
                <a:lnTo>
                  <a:pt x="192759" y="4847907"/>
                </a:lnTo>
                <a:lnTo>
                  <a:pt x="207773" y="4792838"/>
                </a:lnTo>
                <a:lnTo>
                  <a:pt x="223267" y="4737902"/>
                </a:lnTo>
                <a:lnTo>
                  <a:pt x="239239" y="4683104"/>
                </a:lnTo>
                <a:lnTo>
                  <a:pt x="255689" y="4628447"/>
                </a:lnTo>
                <a:lnTo>
                  <a:pt x="272615" y="4573935"/>
                </a:lnTo>
                <a:lnTo>
                  <a:pt x="290016" y="4519573"/>
                </a:lnTo>
                <a:lnTo>
                  <a:pt x="307892" y="4465366"/>
                </a:lnTo>
                <a:lnTo>
                  <a:pt x="326239" y="4411316"/>
                </a:lnTo>
                <a:lnTo>
                  <a:pt x="345057" y="4357428"/>
                </a:lnTo>
                <a:lnTo>
                  <a:pt x="364345" y="4303707"/>
                </a:lnTo>
                <a:lnTo>
                  <a:pt x="384101" y="4250156"/>
                </a:lnTo>
                <a:lnTo>
                  <a:pt x="404324" y="4196779"/>
                </a:lnTo>
                <a:lnTo>
                  <a:pt x="425011" y="4143581"/>
                </a:lnTo>
                <a:lnTo>
                  <a:pt x="446162" y="4090566"/>
                </a:lnTo>
                <a:lnTo>
                  <a:pt x="467775" y="4037737"/>
                </a:lnTo>
                <a:lnTo>
                  <a:pt x="489848" y="3985099"/>
                </a:lnTo>
                <a:lnTo>
                  <a:pt x="512380" y="3932655"/>
                </a:lnTo>
                <a:lnTo>
                  <a:pt x="535368" y="3880410"/>
                </a:lnTo>
                <a:lnTo>
                  <a:pt x="558812" y="3828367"/>
                </a:lnTo>
                <a:lnTo>
                  <a:pt x="582708" y="3776532"/>
                </a:lnTo>
                <a:lnTo>
                  <a:pt x="607057" y="3724906"/>
                </a:lnTo>
                <a:lnTo>
                  <a:pt x="631854" y="3673495"/>
                </a:lnTo>
                <a:lnTo>
                  <a:pt x="657100" y="3622303"/>
                </a:lnTo>
                <a:lnTo>
                  <a:pt x="682791" y="3571332"/>
                </a:lnTo>
                <a:lnTo>
                  <a:pt x="708926" y="3520588"/>
                </a:lnTo>
                <a:lnTo>
                  <a:pt x="735502" y="3470074"/>
                </a:lnTo>
                <a:lnTo>
                  <a:pt x="762519" y="3419794"/>
                </a:lnTo>
                <a:lnTo>
                  <a:pt x="789973" y="3369751"/>
                </a:lnTo>
                <a:lnTo>
                  <a:pt x="817863" y="3319950"/>
                </a:lnTo>
                <a:lnTo>
                  <a:pt x="846187" y="3270394"/>
                </a:lnTo>
                <a:lnTo>
                  <a:pt x="874942" y="3221087"/>
                </a:lnTo>
                <a:lnTo>
                  <a:pt x="904126" y="3172033"/>
                </a:lnTo>
                <a:lnTo>
                  <a:pt x="933737" y="3123236"/>
                </a:lnTo>
                <a:lnTo>
                  <a:pt x="963773" y="3074698"/>
                </a:lnTo>
                <a:lnTo>
                  <a:pt x="994231" y="3026425"/>
                </a:lnTo>
                <a:lnTo>
                  <a:pt x="1025109" y="2978420"/>
                </a:lnTo>
                <a:lnTo>
                  <a:pt x="1056405" y="2930685"/>
                </a:lnTo>
                <a:lnTo>
                  <a:pt x="1088117" y="2883226"/>
                </a:lnTo>
                <a:lnTo>
                  <a:pt x="1120241" y="2836045"/>
                </a:lnTo>
                <a:lnTo>
                  <a:pt x="1152776" y="2789146"/>
                </a:lnTo>
                <a:lnTo>
                  <a:pt x="1185718" y="2742533"/>
                </a:lnTo>
                <a:lnTo>
                  <a:pt x="1219067" y="2696209"/>
                </a:lnTo>
                <a:lnTo>
                  <a:pt x="1252818" y="2650178"/>
                </a:lnTo>
                <a:lnTo>
                  <a:pt x="1286970" y="2604444"/>
                </a:lnTo>
                <a:lnTo>
                  <a:pt x="1321520" y="2559009"/>
                </a:lnTo>
                <a:lnTo>
                  <a:pt x="1356464" y="2513877"/>
                </a:lnTo>
                <a:lnTo>
                  <a:pt x="1391801" y="2469052"/>
                </a:lnTo>
                <a:lnTo>
                  <a:pt x="1427529" y="2424537"/>
                </a:lnTo>
                <a:lnTo>
                  <a:pt x="1463643" y="2380335"/>
                </a:lnTo>
                <a:lnTo>
                  <a:pt x="1500141" y="2336451"/>
                </a:lnTo>
                <a:lnTo>
                  <a:pt x="1537021" y="2292886"/>
                </a:lnTo>
                <a:lnTo>
                  <a:pt x="1574280" y="2249645"/>
                </a:lnTo>
                <a:lnTo>
                  <a:pt x="1611915" y="2206731"/>
                </a:lnTo>
                <a:lnTo>
                  <a:pt x="1649923" y="2164147"/>
                </a:lnTo>
                <a:lnTo>
                  <a:pt x="1688301" y="2121896"/>
                </a:lnTo>
                <a:lnTo>
                  <a:pt x="1727046" y="2079981"/>
                </a:lnTo>
                <a:lnTo>
                  <a:pt x="1766156" y="2038407"/>
                </a:lnTo>
                <a:lnTo>
                  <a:pt x="1805626" y="1997175"/>
                </a:lnTo>
                <a:lnTo>
                  <a:pt x="1845456" y="1956289"/>
                </a:lnTo>
                <a:lnTo>
                  <a:pt x="1885640" y="1915752"/>
                </a:lnTo>
                <a:lnTo>
                  <a:pt x="1926177" y="1875568"/>
                </a:lnTo>
                <a:lnTo>
                  <a:pt x="1967062" y="1835739"/>
                </a:lnTo>
                <a:lnTo>
                  <a:pt x="2008294" y="1796268"/>
                </a:lnTo>
                <a:lnTo>
                  <a:pt x="2049869" y="1757158"/>
                </a:lnTo>
                <a:lnTo>
                  <a:pt x="2091783" y="1718413"/>
                </a:lnTo>
                <a:lnTo>
                  <a:pt x="2134034" y="1680035"/>
                </a:lnTo>
                <a:lnTo>
                  <a:pt x="2176618" y="1642027"/>
                </a:lnTo>
                <a:lnTo>
                  <a:pt x="2219532" y="1604393"/>
                </a:lnTo>
                <a:lnTo>
                  <a:pt x="2262774" y="1567134"/>
                </a:lnTo>
                <a:lnTo>
                  <a:pt x="2306338" y="1530254"/>
                </a:lnTo>
                <a:lnTo>
                  <a:pt x="2350223" y="1493755"/>
                </a:lnTo>
                <a:lnTo>
                  <a:pt x="2394424" y="1457641"/>
                </a:lnTo>
                <a:lnTo>
                  <a:pt x="2438939" y="1421914"/>
                </a:lnTo>
                <a:lnTo>
                  <a:pt x="2483764" y="1386577"/>
                </a:lnTo>
                <a:lnTo>
                  <a:pt x="2528896" y="1351632"/>
                </a:lnTo>
                <a:lnTo>
                  <a:pt x="2574331" y="1317082"/>
                </a:lnTo>
                <a:lnTo>
                  <a:pt x="2620066" y="1282931"/>
                </a:lnTo>
                <a:lnTo>
                  <a:pt x="2666097" y="1249179"/>
                </a:lnTo>
                <a:lnTo>
                  <a:pt x="2712421" y="1215831"/>
                </a:lnTo>
                <a:lnTo>
                  <a:pt x="2759034" y="1182888"/>
                </a:lnTo>
                <a:lnTo>
                  <a:pt x="2805932" y="1150353"/>
                </a:lnTo>
                <a:lnTo>
                  <a:pt x="2853113" y="1118229"/>
                </a:lnTo>
                <a:lnTo>
                  <a:pt x="2900573" y="1086518"/>
                </a:lnTo>
                <a:lnTo>
                  <a:pt x="2948307" y="1055222"/>
                </a:lnTo>
                <a:lnTo>
                  <a:pt x="2996313" y="1024343"/>
                </a:lnTo>
                <a:lnTo>
                  <a:pt x="3044586" y="993885"/>
                </a:lnTo>
                <a:lnTo>
                  <a:pt x="3093123" y="963849"/>
                </a:lnTo>
                <a:lnTo>
                  <a:pt x="3141921" y="934238"/>
                </a:lnTo>
                <a:lnTo>
                  <a:pt x="3190975" y="905054"/>
                </a:lnTo>
                <a:lnTo>
                  <a:pt x="3240282" y="876299"/>
                </a:lnTo>
                <a:lnTo>
                  <a:pt x="3289837" y="847976"/>
                </a:lnTo>
                <a:lnTo>
                  <a:pt x="3339639" y="820086"/>
                </a:lnTo>
                <a:lnTo>
                  <a:pt x="3389681" y="792632"/>
                </a:lnTo>
                <a:lnTo>
                  <a:pt x="3439962" y="765615"/>
                </a:lnTo>
                <a:lnTo>
                  <a:pt x="3490476" y="739038"/>
                </a:lnTo>
                <a:lnTo>
                  <a:pt x="3541220" y="712903"/>
                </a:lnTo>
                <a:lnTo>
                  <a:pt x="3592190" y="687212"/>
                </a:lnTo>
                <a:lnTo>
                  <a:pt x="3643383" y="661967"/>
                </a:lnTo>
                <a:lnTo>
                  <a:pt x="3694794" y="637169"/>
                </a:lnTo>
                <a:lnTo>
                  <a:pt x="3746419" y="612821"/>
                </a:lnTo>
                <a:lnTo>
                  <a:pt x="3798255" y="588924"/>
                </a:lnTo>
                <a:lnTo>
                  <a:pt x="3850297" y="565481"/>
                </a:lnTo>
                <a:lnTo>
                  <a:pt x="3902542" y="542492"/>
                </a:lnTo>
                <a:lnTo>
                  <a:pt x="3954986" y="519961"/>
                </a:lnTo>
                <a:lnTo>
                  <a:pt x="4007624" y="497888"/>
                </a:lnTo>
                <a:lnTo>
                  <a:pt x="4060453" y="476275"/>
                </a:lnTo>
                <a:lnTo>
                  <a:pt x="4113469" y="455124"/>
                </a:lnTo>
                <a:lnTo>
                  <a:pt x="4166667" y="434436"/>
                </a:lnTo>
                <a:lnTo>
                  <a:pt x="4220043" y="414214"/>
                </a:lnTo>
                <a:lnTo>
                  <a:pt x="4273594" y="394458"/>
                </a:lnTo>
                <a:lnTo>
                  <a:pt x="4327316" y="375170"/>
                </a:lnTo>
                <a:lnTo>
                  <a:pt x="4381203" y="356351"/>
                </a:lnTo>
                <a:lnTo>
                  <a:pt x="4435253" y="338004"/>
                </a:lnTo>
                <a:lnTo>
                  <a:pt x="4489461" y="320129"/>
                </a:lnTo>
                <a:lnTo>
                  <a:pt x="4543823" y="302728"/>
                </a:lnTo>
                <a:lnTo>
                  <a:pt x="4598334" y="285801"/>
                </a:lnTo>
                <a:lnTo>
                  <a:pt x="4652991" y="269351"/>
                </a:lnTo>
                <a:lnTo>
                  <a:pt x="4707790" y="253379"/>
                </a:lnTo>
                <a:lnTo>
                  <a:pt x="4762726" y="237885"/>
                </a:lnTo>
                <a:lnTo>
                  <a:pt x="4817795" y="222872"/>
                </a:lnTo>
                <a:lnTo>
                  <a:pt x="4872993" y="208340"/>
                </a:lnTo>
                <a:lnTo>
                  <a:pt x="4928316" y="194289"/>
                </a:lnTo>
                <a:lnTo>
                  <a:pt x="4983759" y="180722"/>
                </a:lnTo>
                <a:lnTo>
                  <a:pt x="5039318" y="167640"/>
                </a:lnTo>
                <a:lnTo>
                  <a:pt x="5094990" y="155043"/>
                </a:lnTo>
                <a:lnTo>
                  <a:pt x="5150769" y="142932"/>
                </a:lnTo>
                <a:lnTo>
                  <a:pt x="5206652" y="131308"/>
                </a:lnTo>
                <a:lnTo>
                  <a:pt x="5262634" y="120173"/>
                </a:lnTo>
                <a:lnTo>
                  <a:pt x="5318712" y="109526"/>
                </a:lnTo>
                <a:lnTo>
                  <a:pt x="5374880" y="99369"/>
                </a:lnTo>
                <a:lnTo>
                  <a:pt x="5431134" y="89703"/>
                </a:lnTo>
                <a:lnTo>
                  <a:pt x="5487471" y="80528"/>
                </a:lnTo>
                <a:lnTo>
                  <a:pt x="5543885" y="71845"/>
                </a:lnTo>
                <a:lnTo>
                  <a:pt x="5600374" y="63654"/>
                </a:lnTo>
                <a:lnTo>
                  <a:pt x="5656931" y="55957"/>
                </a:lnTo>
                <a:lnTo>
                  <a:pt x="5713554" y="48754"/>
                </a:lnTo>
                <a:lnTo>
                  <a:pt x="5770237" y="42045"/>
                </a:lnTo>
                <a:lnTo>
                  <a:pt x="5826977" y="35831"/>
                </a:lnTo>
                <a:lnTo>
                  <a:pt x="5883769" y="30112"/>
                </a:lnTo>
                <a:lnTo>
                  <a:pt x="5940608" y="24890"/>
                </a:lnTo>
                <a:lnTo>
                  <a:pt x="5997491" y="20163"/>
                </a:lnTo>
                <a:lnTo>
                  <a:pt x="6054413" y="15933"/>
                </a:lnTo>
                <a:lnTo>
                  <a:pt x="6111370" y="12200"/>
                </a:lnTo>
                <a:lnTo>
                  <a:pt x="6168357" y="8964"/>
                </a:lnTo>
                <a:lnTo>
                  <a:pt x="6225370" y="6225"/>
                </a:lnTo>
                <a:lnTo>
                  <a:pt x="6282405" y="3984"/>
                </a:lnTo>
                <a:lnTo>
                  <a:pt x="6339458" y="2241"/>
                </a:lnTo>
                <a:lnTo>
                  <a:pt x="6396523" y="996"/>
                </a:lnTo>
                <a:lnTo>
                  <a:pt x="6453597" y="249"/>
                </a:lnTo>
                <a:lnTo>
                  <a:pt x="6510676" y="0"/>
                </a:lnTo>
                <a:lnTo>
                  <a:pt x="6567754" y="249"/>
                </a:lnTo>
                <a:lnTo>
                  <a:pt x="6624828" y="996"/>
                </a:lnTo>
                <a:lnTo>
                  <a:pt x="6681893" y="2241"/>
                </a:lnTo>
              </a:path>
            </a:pathLst>
          </a:custGeom>
          <a:noFill/>
          <a:ln w="15240">
            <a:solidFill>
              <a:srgbClr val="6869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arc"/>
          <p:cNvSpPr/>
          <p:nvPr/>
        </p:nvSpPr>
        <p:spPr>
          <a:xfrm>
            <a:off x="5914196" y="4822589"/>
            <a:ext cx="129600" cy="129600"/>
          </a:xfrm>
          <a:prstGeom prst="ellipse">
            <a:avLst/>
          </a:prstGeom>
          <a:solidFill>
            <a:srgbClr val="E0872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label: СЛЕДУЮЩИЙ ШАГ"/>
          <p:cNvSpPr txBox="1"/>
          <p:nvPr/>
        </p:nvSpPr>
        <p:spPr>
          <a:xfrm>
            <a:off x="648000" y="571618"/>
            <a:ext cx="5400000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138">
                <a:solidFill>
                  <a:srgbClr val="A0A0AD"/>
                </a:solidFill>
                <a:latin typeface="Onest SemiBold"/>
                <a:ea typeface="Onest SemiBold"/>
                <a:cs typeface="Onest SemiBold"/>
              </a:rPr>
              <a:t>СЛЕДУЮЩИЙ ШАГ</a:t>
            </a:r>
          </a:p>
        </p:txBody>
      </p:sp>
      <p:sp>
        <p:nvSpPr>
          <p:cNvPr id="6" name="title: Обсудим ваш"/>
          <p:cNvSpPr txBox="1"/>
          <p:nvPr/>
        </p:nvSpPr>
        <p:spPr>
          <a:xfrm>
            <a:off x="648000" y="1385598"/>
            <a:ext cx="7204008" cy="190157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6510"/>
              </a:lnSpc>
              <a:spcBef>
                <a:spcPts val="0"/>
              </a:spcBef>
              <a:spcAft>
                <a:spcPts val="0"/>
              </a:spcAft>
            </a:pPr>
            <a:r>
              <a:rPr sz="6510" b="0" i="0" spc="-130">
                <a:solidFill>
                  <a:srgbClr val="F2F1EE"/>
                </a:solidFill>
                <a:latin typeface="PT Serif"/>
                <a:ea typeface="PT Serif"/>
                <a:cs typeface="PT Serif"/>
              </a:rPr>
              <a:t>Обсудим ваш</a:t>
            </a:r>
          </a:p>
          <a:p>
            <a:pPr algn="l">
              <a:lnSpc>
                <a:spcPts val="6510"/>
              </a:lnSpc>
              <a:spcBef>
                <a:spcPts val="0"/>
              </a:spcBef>
              <a:spcAft>
                <a:spcPts val="0"/>
              </a:spcAft>
            </a:pPr>
            <a:r>
              <a:rPr sz="6510" b="0" i="0" spc="-130">
                <a:solidFill>
                  <a:srgbClr val="F2F1EE"/>
                </a:solidFill>
                <a:latin typeface="PT Serif"/>
                <a:ea typeface="PT Serif"/>
                <a:cs typeface="PT Serif"/>
              </a:rPr>
              <a:t>объект</a:t>
            </a:r>
          </a:p>
        </p:txBody>
      </p:sp>
      <p:sp>
        <p:nvSpPr>
          <p:cNvPr id="7" name="lead: Подготовим технико-коммерческо"/>
          <p:cNvSpPr txBox="1"/>
          <p:nvPr/>
        </p:nvSpPr>
        <p:spPr>
          <a:xfrm>
            <a:off x="648000" y="3394040"/>
            <a:ext cx="5358006" cy="9570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08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 spc="0">
                <a:solidFill>
                  <a:srgbClr val="A0A0AD"/>
                </a:solidFill>
                <a:latin typeface="Onest"/>
                <a:ea typeface="Onest"/>
                <a:cs typeface="Onest"/>
              </a:rPr>
              <a:t>Подготовим технико-коммерческое</a:t>
            </a:r>
          </a:p>
          <a:p>
            <a:pPr algn="l">
              <a:lnSpc>
                <a:spcPts val="3408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 spc="0">
                <a:solidFill>
                  <a:srgbClr val="A0A0AD"/>
                </a:solidFill>
                <a:latin typeface="Onest"/>
                <a:ea typeface="Onest"/>
                <a:cs typeface="Onest"/>
              </a:rPr>
              <a:t>предложение под вашу задачу.</a:t>
            </a:r>
          </a:p>
        </p:txBody>
      </p:sp>
      <p:sp>
        <p:nvSpPr>
          <p:cNvPr id="8" name="contact: ГК «ЭНЕРГО ГРУПП»"/>
          <p:cNvSpPr txBox="1"/>
          <p:nvPr/>
        </p:nvSpPr>
        <p:spPr>
          <a:xfrm>
            <a:off x="8032008" y="5105523"/>
            <a:ext cx="3512004" cy="3238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 spc="0">
                <a:solidFill>
                  <a:srgbClr val="F2F1EE"/>
                </a:solidFill>
                <a:latin typeface="Onest SemiBold"/>
                <a:ea typeface="Onest SemiBold"/>
                <a:cs typeface="Onest SemiBold"/>
              </a:rPr>
              <a:t>ГК «ЭНЕРГО ГРУПП»</a:t>
            </a:r>
          </a:p>
        </p:txBody>
      </p:sp>
      <p:sp>
        <p:nvSpPr>
          <p:cNvPr id="9" name="contact: info@egroupp.ru"/>
          <p:cNvSpPr txBox="1"/>
          <p:nvPr/>
        </p:nvSpPr>
        <p:spPr>
          <a:xfrm>
            <a:off x="8032008" y="5447523"/>
            <a:ext cx="3512004" cy="3238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 spc="0">
                <a:solidFill>
                  <a:srgbClr val="F2F1EE"/>
                </a:solidFill>
                <a:latin typeface="Onest"/>
                <a:ea typeface="Onest"/>
                <a:cs typeface="Onest"/>
              </a:rPr>
              <a:t>info@egroupp.ru</a:t>
            </a:r>
          </a:p>
        </p:txBody>
      </p:sp>
      <p:sp>
        <p:nvSpPr>
          <p:cNvPr id="10" name="contact: egroupp.ru"/>
          <p:cNvSpPr txBox="1"/>
          <p:nvPr/>
        </p:nvSpPr>
        <p:spPr>
          <a:xfrm>
            <a:off x="8032008" y="5789523"/>
            <a:ext cx="3512004" cy="3238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 spc="0">
                <a:solidFill>
                  <a:srgbClr val="F2F1EE"/>
                </a:solidFill>
                <a:latin typeface="Onest"/>
                <a:ea typeface="Onest"/>
                <a:cs typeface="Onest"/>
              </a:rPr>
              <a:t>egroupp.ru</a:t>
            </a:r>
          </a:p>
        </p:txBody>
      </p:sp>
      <p:sp>
        <p:nvSpPr>
          <p:cNvPr id="11" name="label: ГК «ЭНЕРГО ГРУПП»"/>
          <p:cNvSpPr txBox="1"/>
          <p:nvPr/>
        </p:nvSpPr>
        <p:spPr>
          <a:xfrm>
            <a:off x="648000" y="6234419"/>
            <a:ext cx="5400000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spc="138">
                <a:solidFill>
                  <a:srgbClr val="A0A0AD"/>
                </a:solidFill>
                <a:latin typeface="Onest SemiBold"/>
                <a:ea typeface="Onest SemiBold"/>
                <a:cs typeface="Onest SemiBold"/>
              </a:rPr>
              <a:t>ГК «ЭНЕРГО ГРУПП»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ГК «ЭНЕРГО ГРУПП» — комплексное строительство в энергетике</dc:title>
  <dc:subject/>
  <dc:creator>ГК «ЭНЕРГО ГРУПП»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